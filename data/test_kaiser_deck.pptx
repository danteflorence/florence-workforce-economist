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274320"/>
            <a:ext cx="320040" cy="320040"/>
          </a:xfrm>
          <a:prstGeom prst="roundRect">
            <a:avLst>
              <a:gd name="adj" fmla="val 20000"/>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20040" cy="365760"/>
          </a:xfrm>
          <a:prstGeom prst="rect">
            <a:avLst/>
          </a:prstGeom>
          <a:noFill/>
        </p:spPr>
        <p:txBody>
          <a:bodyPr wrap="none" lIns="0" rIns="0">
            <a:spAutoFit/>
          </a:bodyPr>
          <a:lstStyle/>
          <a:p>
            <a:pPr algn="ctr"/>
            <a:r>
              <a:rPr sz="1600" b="1">
                <a:solidFill>
                  <a:srgbClr val="FFFFFF"/>
                </a:solidFill>
                <a:latin typeface="Inter"/>
              </a:rPr>
              <a:t>F</a:t>
            </a:r>
          </a:p>
        </p:txBody>
      </p:sp>
      <p:sp>
        <p:nvSpPr>
          <p:cNvPr id="4" name="TextBox 3"/>
          <p:cNvSpPr txBox="1"/>
          <p:nvPr/>
        </p:nvSpPr>
        <p:spPr>
          <a:xfrm>
            <a:off x="868680" y="292608"/>
            <a:ext cx="1828800" cy="365760"/>
          </a:xfrm>
          <a:prstGeom prst="rect">
            <a:avLst/>
          </a:prstGeom>
          <a:noFill/>
        </p:spPr>
        <p:txBody>
          <a:bodyPr wrap="square" lIns="0" rIns="0" tIns="0" bIns="0">
            <a:spAutoFit/>
          </a:bodyPr>
          <a:lstStyle/>
          <a:p>
            <a:pPr algn="l"/>
            <a:r>
              <a:rPr sz="1600" b="1">
                <a:solidFill>
                  <a:srgbClr val="0F1B2D"/>
                </a:solidFill>
                <a:latin typeface="Newsreader"/>
              </a:rPr>
              <a:t>Florence</a:t>
            </a:r>
          </a:p>
        </p:txBody>
      </p:sp>
      <p:sp>
        <p:nvSpPr>
          <p:cNvPr id="5" name="TextBox 4"/>
          <p:cNvSpPr txBox="1"/>
          <p:nvPr/>
        </p:nvSpPr>
        <p:spPr>
          <a:xfrm>
            <a:off x="7772400" y="320040"/>
            <a:ext cx="4114800" cy="274320"/>
          </a:xfrm>
          <a:prstGeom prst="rect">
            <a:avLst/>
          </a:prstGeom>
          <a:noFill/>
        </p:spPr>
        <p:txBody>
          <a:bodyPr wrap="square" lIns="0" rIns="0" tIns="0" bIns="0">
            <a:spAutoFit/>
          </a:bodyPr>
          <a:lstStyle/>
          <a:p>
            <a:pPr algn="r"/>
            <a:r>
              <a:rPr sz="900" b="1">
                <a:solidFill>
                  <a:srgbClr val="5B6675"/>
                </a:solidFill>
                <a:latin typeface="Inter"/>
              </a:rPr>
              <a:t>CONFIDENTIAL PROPOSAL  ·  FLORENCE WORKFORCE ECONOMIST</a:t>
            </a:r>
          </a:p>
        </p:txBody>
      </p:sp>
      <p:sp>
        <p:nvSpPr>
          <p:cNvPr id="6" name="TextBox 5"/>
          <p:cNvSpPr txBox="1"/>
          <p:nvPr/>
        </p:nvSpPr>
        <p:spPr>
          <a:xfrm>
            <a:off x="457200" y="2103120"/>
            <a:ext cx="7315200" cy="274320"/>
          </a:xfrm>
          <a:prstGeom prst="rect">
            <a:avLst/>
          </a:prstGeom>
          <a:noFill/>
        </p:spPr>
        <p:txBody>
          <a:bodyPr wrap="square" lIns="0" rIns="0" tIns="0" bIns="0">
            <a:spAutoFit/>
          </a:bodyPr>
          <a:lstStyle/>
          <a:p>
            <a:pPr algn="l"/>
            <a:r>
              <a:rPr sz="1000" b="1">
                <a:solidFill>
                  <a:srgbClr val="089478"/>
                </a:solidFill>
                <a:latin typeface="Inter"/>
              </a:rPr>
              <a:t>FOR KAISER PERMANENTE</a:t>
            </a:r>
          </a:p>
        </p:txBody>
      </p:sp>
      <p:sp>
        <p:nvSpPr>
          <p:cNvPr id="7" name="TextBox 6"/>
          <p:cNvSpPr txBox="1"/>
          <p:nvPr/>
        </p:nvSpPr>
        <p:spPr>
          <a:xfrm>
            <a:off x="457200" y="2468880"/>
            <a:ext cx="10972800" cy="1463040"/>
          </a:xfrm>
          <a:prstGeom prst="rect">
            <a:avLst/>
          </a:prstGeom>
          <a:noFill/>
        </p:spPr>
        <p:txBody>
          <a:bodyPr wrap="square" lIns="0" rIns="0" tIns="0" bIns="0">
            <a:spAutoFit/>
          </a:bodyPr>
          <a:lstStyle/>
          <a:p>
            <a:pPr algn="l"/>
            <a:r>
              <a:rPr sz="4400" b="1">
                <a:solidFill>
                  <a:srgbClr val="0F1B2D"/>
                </a:solidFill>
                <a:latin typeface="Newsreader"/>
              </a:rPr>
              <a:t>A Pathway to Permanent
RN Capacity.</a:t>
            </a:r>
          </a:p>
        </p:txBody>
      </p:sp>
      <p:sp>
        <p:nvSpPr>
          <p:cNvPr id="8" name="TextBox 7"/>
          <p:cNvSpPr txBox="1"/>
          <p:nvPr/>
        </p:nvSpPr>
        <p:spPr>
          <a:xfrm>
            <a:off x="457200" y="5212080"/>
            <a:ext cx="9144000" cy="1828800"/>
          </a:xfrm>
          <a:prstGeom prst="rect">
            <a:avLst/>
          </a:prstGeom>
          <a:noFill/>
        </p:spPr>
        <p:txBody>
          <a:bodyPr wrap="square" lIns="0" rIns="0" tIns="0" bIns="0">
            <a:spAutoFit/>
          </a:bodyPr>
          <a:lstStyle/>
          <a:p>
            <a:pPr algn="l"/>
            <a:r>
              <a:rPr sz="1400" b="0">
                <a:solidFill>
                  <a:srgbClr val="5B6675"/>
                </a:solidFill>
                <a:latin typeface="Inter"/>
              </a:rPr>
              <a:t>Florence delivers 11,132 permanent international RNs to Kaiser Permanente across 37 facilities in 5 states. Same hours. Different price. Different outcome.</a:t>
            </a:r>
          </a:p>
        </p:txBody>
      </p:sp>
      <p:sp>
        <p:nvSpPr>
          <p:cNvPr id="9" name="TextBox 8"/>
          <p:cNvSpPr txBox="1"/>
          <p:nvPr/>
        </p:nvSpPr>
        <p:spPr>
          <a:xfrm>
            <a:off x="457200" y="6400800"/>
            <a:ext cx="3657600" cy="274320"/>
          </a:xfrm>
          <a:prstGeom prst="rect">
            <a:avLst/>
          </a:prstGeom>
          <a:noFill/>
        </p:spPr>
        <p:txBody>
          <a:bodyPr wrap="square" lIns="0" rIns="0" tIns="0" bIns="0">
            <a:spAutoFit/>
          </a:bodyPr>
          <a:lstStyle/>
          <a:p>
            <a:pPr algn="l"/>
            <a:r>
              <a:rPr sz="1000" b="0">
                <a:solidFill>
                  <a:srgbClr val="089478"/>
                </a:solidFill>
                <a:latin typeface="Inter"/>
              </a:rPr>
              <a:t>florenceedu.com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274320"/>
            <a:ext cx="320040" cy="320040"/>
          </a:xfrm>
          <a:prstGeom prst="roundRect">
            <a:avLst>
              <a:gd name="adj" fmla="val 20000"/>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20040" cy="365760"/>
          </a:xfrm>
          <a:prstGeom prst="rect">
            <a:avLst/>
          </a:prstGeom>
          <a:noFill/>
        </p:spPr>
        <p:txBody>
          <a:bodyPr wrap="none" lIns="0" rIns="0">
            <a:spAutoFit/>
          </a:bodyPr>
          <a:lstStyle/>
          <a:p>
            <a:pPr algn="ctr"/>
            <a:r>
              <a:rPr sz="1600" b="1">
                <a:solidFill>
                  <a:srgbClr val="FFFFFF"/>
                </a:solidFill>
                <a:latin typeface="Inter"/>
              </a:rPr>
              <a:t>F</a:t>
            </a:r>
          </a:p>
        </p:txBody>
      </p:sp>
      <p:sp>
        <p:nvSpPr>
          <p:cNvPr id="4" name="TextBox 3"/>
          <p:cNvSpPr txBox="1"/>
          <p:nvPr/>
        </p:nvSpPr>
        <p:spPr>
          <a:xfrm>
            <a:off x="868680" y="292608"/>
            <a:ext cx="1828800" cy="365760"/>
          </a:xfrm>
          <a:prstGeom prst="rect">
            <a:avLst/>
          </a:prstGeom>
          <a:noFill/>
        </p:spPr>
        <p:txBody>
          <a:bodyPr wrap="square" lIns="0" rIns="0" tIns="0" bIns="0">
            <a:spAutoFit/>
          </a:bodyPr>
          <a:lstStyle/>
          <a:p>
            <a:pPr algn="l"/>
            <a:r>
              <a:rPr sz="1600" b="1">
                <a:solidFill>
                  <a:srgbClr val="0F1B2D"/>
                </a:solidFill>
                <a:latin typeface="Newsreader"/>
              </a:rPr>
              <a:t>Florence</a:t>
            </a:r>
          </a:p>
        </p:txBody>
      </p:sp>
      <p:sp>
        <p:nvSpPr>
          <p:cNvPr id="5" name="TextBox 4"/>
          <p:cNvSpPr txBox="1"/>
          <p:nvPr/>
        </p:nvSpPr>
        <p:spPr>
          <a:xfrm>
            <a:off x="7772400" y="320040"/>
            <a:ext cx="4114800" cy="274320"/>
          </a:xfrm>
          <a:prstGeom prst="rect">
            <a:avLst/>
          </a:prstGeom>
          <a:noFill/>
        </p:spPr>
        <p:txBody>
          <a:bodyPr wrap="square" lIns="0" rIns="0" tIns="0" bIns="0">
            <a:spAutoFit/>
          </a:bodyPr>
          <a:lstStyle/>
          <a:p>
            <a:pPr algn="r"/>
            <a:r>
              <a:rPr sz="900" b="1">
                <a:solidFill>
                  <a:srgbClr val="5B6675"/>
                </a:solidFill>
                <a:latin typeface="Inter"/>
              </a:rPr>
              <a:t>01  ·  THE OPPORTUNITY  ·  FOR KAISER PERMANENTE</a:t>
            </a:r>
          </a:p>
        </p:txBody>
      </p:sp>
      <p:sp>
        <p:nvSpPr>
          <p:cNvPr id="6" name="TextBox 5"/>
          <p:cNvSpPr txBox="1"/>
          <p:nvPr/>
        </p:nvSpPr>
        <p:spPr>
          <a:xfrm>
            <a:off x="457200" y="914400"/>
            <a:ext cx="7315200" cy="274320"/>
          </a:xfrm>
          <a:prstGeom prst="rect">
            <a:avLst/>
          </a:prstGeom>
          <a:noFill/>
        </p:spPr>
        <p:txBody>
          <a:bodyPr wrap="square" lIns="0" rIns="0" tIns="0" bIns="0">
            <a:spAutoFit/>
          </a:bodyPr>
          <a:lstStyle/>
          <a:p>
            <a:pPr algn="l"/>
            <a:r>
              <a:rPr sz="1000" b="1">
                <a:solidFill>
                  <a:srgbClr val="089478"/>
                </a:solidFill>
                <a:latin typeface="Inter"/>
              </a:rPr>
              <a:t>01 · THE OPPORTUNITY</a:t>
            </a:r>
          </a:p>
        </p:txBody>
      </p:sp>
      <p:sp>
        <p:nvSpPr>
          <p:cNvPr id="7" name="TextBox 6"/>
          <p:cNvSpPr txBox="1"/>
          <p:nvPr/>
        </p:nvSpPr>
        <p:spPr>
          <a:xfrm>
            <a:off x="457200" y="1280160"/>
            <a:ext cx="9144000" cy="1463040"/>
          </a:xfrm>
          <a:prstGeom prst="rect">
            <a:avLst/>
          </a:prstGeom>
          <a:noFill/>
        </p:spPr>
        <p:txBody>
          <a:bodyPr wrap="square" lIns="0" rIns="0" tIns="0" bIns="0">
            <a:spAutoFit/>
          </a:bodyPr>
          <a:lstStyle/>
          <a:p>
            <a:pPr algn="l"/>
            <a:r>
              <a:rPr sz="4400" b="1">
                <a:solidFill>
                  <a:srgbClr val="0F1B2D"/>
                </a:solidFill>
                <a:latin typeface="Newsreader"/>
              </a:rPr>
              <a:t>Same hours. Two prices.</a:t>
            </a:r>
          </a:p>
        </p:txBody>
      </p:sp>
      <p:sp>
        <p:nvSpPr>
          <p:cNvPr id="8" name="TextBox 7"/>
          <p:cNvSpPr txBox="1"/>
          <p:nvPr/>
        </p:nvSpPr>
        <p:spPr>
          <a:xfrm>
            <a:off x="457200" y="2468880"/>
            <a:ext cx="10058400" cy="1828800"/>
          </a:xfrm>
          <a:prstGeom prst="rect">
            <a:avLst/>
          </a:prstGeom>
          <a:noFill/>
        </p:spPr>
        <p:txBody>
          <a:bodyPr wrap="square" lIns="0" rIns="0" tIns="0" bIns="0">
            <a:spAutoFit/>
          </a:bodyPr>
          <a:lstStyle/>
          <a:p>
            <a:pPr algn="l"/>
            <a:r>
              <a:rPr sz="1400" b="0">
                <a:solidFill>
                  <a:srgbClr val="5B6675"/>
                </a:solidFill>
                <a:latin typeface="Inter"/>
              </a:rPr>
              <a:t>The agency RN hours Kaiser Permanente used last year will recur. The choice is what to pay per hour, and what to get for it.</a:t>
            </a:r>
          </a:p>
        </p:txBody>
      </p:sp>
      <p:sp>
        <p:nvSpPr>
          <p:cNvPr id="9" name="Rectangle 8"/>
          <p:cNvSpPr/>
          <p:nvPr/>
        </p:nvSpPr>
        <p:spPr>
          <a:xfrm>
            <a:off x="457200" y="3383280"/>
            <a:ext cx="5120640" cy="2377440"/>
          </a:xfrm>
          <a:prstGeom prst="rect">
            <a:avLst/>
          </a:prstGeom>
          <a:solidFill>
            <a:srgbClr val="F4F6F8"/>
          </a:solidFill>
          <a:ln>
            <a:solidFill>
              <a:srgbClr val="E5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520440"/>
            <a:ext cx="2743200" cy="274320"/>
          </a:xfrm>
          <a:prstGeom prst="rect">
            <a:avLst/>
          </a:prstGeom>
          <a:noFill/>
        </p:spPr>
        <p:txBody>
          <a:bodyPr wrap="square" lIns="0" rIns="0" tIns="0" bIns="0">
            <a:spAutoFit/>
          </a:bodyPr>
          <a:lstStyle/>
          <a:p>
            <a:pPr algn="l"/>
            <a:r>
              <a:rPr sz="900" b="1">
                <a:solidFill>
                  <a:srgbClr val="5B6675"/>
                </a:solidFill>
                <a:latin typeface="Inter"/>
              </a:rPr>
              <a:t>TODAY</a:t>
            </a:r>
          </a:p>
        </p:txBody>
      </p:sp>
      <p:sp>
        <p:nvSpPr>
          <p:cNvPr id="11" name="TextBox 10"/>
          <p:cNvSpPr txBox="1"/>
          <p:nvPr/>
        </p:nvSpPr>
        <p:spPr>
          <a:xfrm>
            <a:off x="731520" y="3794760"/>
            <a:ext cx="4572000" cy="1005840"/>
          </a:xfrm>
          <a:prstGeom prst="rect">
            <a:avLst/>
          </a:prstGeom>
          <a:noFill/>
        </p:spPr>
        <p:txBody>
          <a:bodyPr wrap="square" lIns="0" rIns="0" tIns="0" bIns="0">
            <a:spAutoFit/>
          </a:bodyPr>
          <a:lstStyle/>
          <a:p>
            <a:pPr algn="l"/>
            <a:r>
              <a:rPr sz="4800" b="1">
                <a:solidFill>
                  <a:srgbClr val="0F1B2D"/>
                </a:solidFill>
                <a:latin typeface="Newsreader"/>
              </a:rPr>
              <a:t>$29.60</a:t>
            </a:r>
          </a:p>
        </p:txBody>
      </p:sp>
      <p:sp>
        <p:nvSpPr>
          <p:cNvPr id="12" name="TextBox 11"/>
          <p:cNvSpPr txBox="1"/>
          <p:nvPr/>
        </p:nvSpPr>
        <p:spPr>
          <a:xfrm>
            <a:off x="3566160" y="4160520"/>
            <a:ext cx="1828800" cy="457200"/>
          </a:xfrm>
          <a:prstGeom prst="rect">
            <a:avLst/>
          </a:prstGeom>
          <a:noFill/>
        </p:spPr>
        <p:txBody>
          <a:bodyPr wrap="square" lIns="0" rIns="0" tIns="0" bIns="0">
            <a:spAutoFit/>
          </a:bodyPr>
          <a:lstStyle/>
          <a:p>
            <a:pPr algn="l"/>
            <a:r>
              <a:rPr sz="2000" b="0">
                <a:solidFill>
                  <a:srgbClr val="5B6675"/>
                </a:solidFill>
                <a:latin typeface="Newsreader"/>
              </a:rPr>
              <a:t>/hour</a:t>
            </a:r>
          </a:p>
        </p:txBody>
      </p:sp>
      <p:sp>
        <p:nvSpPr>
          <p:cNvPr id="13" name="TextBox 12"/>
          <p:cNvSpPr txBox="1"/>
          <p:nvPr/>
        </p:nvSpPr>
        <p:spPr>
          <a:xfrm>
            <a:off x="731520" y="4754880"/>
            <a:ext cx="4572000" cy="365760"/>
          </a:xfrm>
          <a:prstGeom prst="rect">
            <a:avLst/>
          </a:prstGeom>
          <a:noFill/>
        </p:spPr>
        <p:txBody>
          <a:bodyPr wrap="square" lIns="0" rIns="0" tIns="0" bIns="0">
            <a:spAutoFit/>
          </a:bodyPr>
          <a:lstStyle/>
          <a:p>
            <a:pPr algn="l"/>
            <a:r>
              <a:rPr sz="1400" b="1">
                <a:solidFill>
                  <a:srgbClr val="0F1B2D"/>
                </a:solidFill>
                <a:latin typeface="Newsreader"/>
              </a:rPr>
              <a:t>Agency staffing premium.</a:t>
            </a:r>
          </a:p>
        </p:txBody>
      </p:sp>
      <p:sp>
        <p:nvSpPr>
          <p:cNvPr id="14" name="TextBox 13"/>
          <p:cNvSpPr txBox="1"/>
          <p:nvPr/>
        </p:nvSpPr>
        <p:spPr>
          <a:xfrm>
            <a:off x="731520" y="5074920"/>
            <a:ext cx="4572000" cy="914400"/>
          </a:xfrm>
          <a:prstGeom prst="rect">
            <a:avLst/>
          </a:prstGeom>
          <a:noFill/>
        </p:spPr>
        <p:txBody>
          <a:bodyPr wrap="square" lIns="0" rIns="0" tIns="0" bIns="0">
            <a:spAutoFit/>
          </a:bodyPr>
          <a:lstStyle/>
          <a:p>
            <a:pPr algn="l"/>
            <a:r>
              <a:rPr sz="1000" b="0">
                <a:solidFill>
                  <a:srgbClr val="5B6675"/>
                </a:solidFill>
                <a:latin typeface="Inter"/>
              </a:rPr>
              <a:t>Contingent labor. No continuity of unit, panel, or workforce planning. Premium recurs every cycle.</a:t>
            </a:r>
          </a:p>
        </p:txBody>
      </p:sp>
      <p:sp>
        <p:nvSpPr>
          <p:cNvPr id="15" name="TextBox 14"/>
          <p:cNvSpPr txBox="1"/>
          <p:nvPr/>
        </p:nvSpPr>
        <p:spPr>
          <a:xfrm>
            <a:off x="5669280" y="4297680"/>
            <a:ext cx="731520" cy="548640"/>
          </a:xfrm>
          <a:prstGeom prst="rect">
            <a:avLst/>
          </a:prstGeom>
          <a:noFill/>
        </p:spPr>
        <p:txBody>
          <a:bodyPr wrap="square" lIns="0" rIns="0" tIns="0" bIns="0">
            <a:spAutoFit/>
          </a:bodyPr>
          <a:lstStyle/>
          <a:p>
            <a:pPr algn="ctr"/>
            <a:r>
              <a:rPr sz="3200" b="0">
                <a:solidFill>
                  <a:srgbClr val="0BC5A0"/>
                </a:solidFill>
                <a:latin typeface="Newsreader"/>
              </a:rPr>
              <a:t>→</a:t>
            </a:r>
          </a:p>
        </p:txBody>
      </p:sp>
      <p:sp>
        <p:nvSpPr>
          <p:cNvPr id="16" name="Rectangle 15"/>
          <p:cNvSpPr/>
          <p:nvPr/>
        </p:nvSpPr>
        <p:spPr>
          <a:xfrm>
            <a:off x="6400800" y="3383280"/>
            <a:ext cx="5303520" cy="2377440"/>
          </a:xfrm>
          <a:prstGeom prst="rect">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3520440"/>
            <a:ext cx="2743200" cy="274320"/>
          </a:xfrm>
          <a:prstGeom prst="rect">
            <a:avLst/>
          </a:prstGeom>
          <a:noFill/>
        </p:spPr>
        <p:txBody>
          <a:bodyPr wrap="square" lIns="0" rIns="0" tIns="0" bIns="0">
            <a:spAutoFit/>
          </a:bodyPr>
          <a:lstStyle/>
          <a:p>
            <a:pPr algn="l"/>
            <a:r>
              <a:rPr sz="900" b="1">
                <a:solidFill>
                  <a:srgbClr val="FFFFFF"/>
                </a:solidFill>
                <a:latin typeface="Inter"/>
              </a:rPr>
              <a:t>WITH FLORENCE</a:t>
            </a:r>
          </a:p>
        </p:txBody>
      </p:sp>
      <p:sp>
        <p:nvSpPr>
          <p:cNvPr id="18" name="TextBox 17"/>
          <p:cNvSpPr txBox="1"/>
          <p:nvPr/>
        </p:nvSpPr>
        <p:spPr>
          <a:xfrm>
            <a:off x="6675120" y="3794760"/>
            <a:ext cx="4572000" cy="1005840"/>
          </a:xfrm>
          <a:prstGeom prst="rect">
            <a:avLst/>
          </a:prstGeom>
          <a:noFill/>
        </p:spPr>
        <p:txBody>
          <a:bodyPr wrap="square" lIns="0" rIns="0" tIns="0" bIns="0">
            <a:spAutoFit/>
          </a:bodyPr>
          <a:lstStyle/>
          <a:p>
            <a:pPr algn="l"/>
            <a:r>
              <a:rPr sz="4800" b="1">
                <a:solidFill>
                  <a:srgbClr val="FFFFFF"/>
                </a:solidFill>
                <a:latin typeface="Newsreader"/>
              </a:rPr>
              <a:t>$6.77</a:t>
            </a:r>
          </a:p>
        </p:txBody>
      </p:sp>
      <p:sp>
        <p:nvSpPr>
          <p:cNvPr id="19" name="TextBox 18"/>
          <p:cNvSpPr txBox="1"/>
          <p:nvPr/>
        </p:nvSpPr>
        <p:spPr>
          <a:xfrm>
            <a:off x="9509760" y="4160520"/>
            <a:ext cx="1828800" cy="457200"/>
          </a:xfrm>
          <a:prstGeom prst="rect">
            <a:avLst/>
          </a:prstGeom>
          <a:noFill/>
        </p:spPr>
        <p:txBody>
          <a:bodyPr wrap="square" lIns="0" rIns="0" tIns="0" bIns="0">
            <a:spAutoFit/>
          </a:bodyPr>
          <a:lstStyle/>
          <a:p>
            <a:pPr algn="l"/>
            <a:r>
              <a:rPr sz="2000" b="0">
                <a:solidFill>
                  <a:srgbClr val="FFFFFF"/>
                </a:solidFill>
                <a:latin typeface="Newsreader"/>
              </a:rPr>
              <a:t>/hour</a:t>
            </a:r>
          </a:p>
        </p:txBody>
      </p:sp>
      <p:sp>
        <p:nvSpPr>
          <p:cNvPr id="20" name="TextBox 19"/>
          <p:cNvSpPr txBox="1"/>
          <p:nvPr/>
        </p:nvSpPr>
        <p:spPr>
          <a:xfrm>
            <a:off x="6675120" y="4754880"/>
            <a:ext cx="4572000" cy="365760"/>
          </a:xfrm>
          <a:prstGeom prst="rect">
            <a:avLst/>
          </a:prstGeom>
          <a:noFill/>
        </p:spPr>
        <p:txBody>
          <a:bodyPr wrap="square" lIns="0" rIns="0" tIns="0" bIns="0">
            <a:spAutoFit/>
          </a:bodyPr>
          <a:lstStyle/>
          <a:p>
            <a:pPr algn="l"/>
            <a:r>
              <a:rPr sz="1400" b="1">
                <a:solidFill>
                  <a:srgbClr val="FFFFFF"/>
                </a:solidFill>
                <a:latin typeface="Newsreader"/>
              </a:rPr>
              <a:t>Permanent RN capacity.</a:t>
            </a:r>
          </a:p>
        </p:txBody>
      </p:sp>
      <p:sp>
        <p:nvSpPr>
          <p:cNvPr id="21" name="TextBox 20"/>
          <p:cNvSpPr txBox="1"/>
          <p:nvPr/>
        </p:nvSpPr>
        <p:spPr>
          <a:xfrm>
            <a:off x="6675120" y="5074920"/>
            <a:ext cx="4572000" cy="914400"/>
          </a:xfrm>
          <a:prstGeom prst="rect">
            <a:avLst/>
          </a:prstGeom>
          <a:noFill/>
        </p:spPr>
        <p:txBody>
          <a:bodyPr wrap="square" lIns="0" rIns="0" tIns="0" bIns="0">
            <a:spAutoFit/>
          </a:bodyPr>
          <a:lstStyle/>
          <a:p>
            <a:pPr algn="l"/>
            <a:r>
              <a:rPr sz="1000" b="0">
                <a:solidFill>
                  <a:srgbClr val="FFFFFF"/>
                </a:solidFill>
                <a:latin typeface="Inter"/>
              </a:rPr>
              <a:t>Full-time Kaiser Permanente employees on multi-year contracts. Fee payable on successful employment start; replacement protection for early attrition.</a:t>
            </a:r>
          </a:p>
        </p:txBody>
      </p:sp>
      <p:sp>
        <p:nvSpPr>
          <p:cNvPr id="22" name="Rectangle 21"/>
          <p:cNvSpPr/>
          <p:nvPr/>
        </p:nvSpPr>
        <p:spPr>
          <a:xfrm>
            <a:off x="457200" y="5943600"/>
            <a:ext cx="11247120" cy="64008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080760"/>
            <a:ext cx="6400800" cy="365760"/>
          </a:xfrm>
          <a:prstGeom prst="rect">
            <a:avLst/>
          </a:prstGeom>
          <a:noFill/>
        </p:spPr>
        <p:txBody>
          <a:bodyPr wrap="square" lIns="0" rIns="0" tIns="0" bIns="0">
            <a:spAutoFit/>
          </a:bodyPr>
          <a:lstStyle/>
          <a:p>
            <a:pPr algn="l"/>
            <a:r>
              <a:rPr sz="1100" b="0">
                <a:solidFill>
                  <a:srgbClr val="FFFFFF"/>
                </a:solidFill>
                <a:latin typeface="Inter"/>
              </a:rPr>
              <a:t>Annual savings opportunity · net of Florence fees and FICA equivalence</a:t>
            </a:r>
          </a:p>
        </p:txBody>
      </p:sp>
      <p:sp>
        <p:nvSpPr>
          <p:cNvPr id="24" name="TextBox 23"/>
          <p:cNvSpPr txBox="1"/>
          <p:nvPr/>
        </p:nvSpPr>
        <p:spPr>
          <a:xfrm>
            <a:off x="8686800" y="6035040"/>
            <a:ext cx="3017520" cy="457200"/>
          </a:xfrm>
          <a:prstGeom prst="rect">
            <a:avLst/>
          </a:prstGeom>
          <a:noFill/>
        </p:spPr>
        <p:txBody>
          <a:bodyPr wrap="square" lIns="0" rIns="0" tIns="0" bIns="0">
            <a:spAutoFit/>
          </a:bodyPr>
          <a:lstStyle/>
          <a:p>
            <a:pPr algn="r"/>
            <a:r>
              <a:rPr sz="2200" b="1">
                <a:solidFill>
                  <a:srgbClr val="0BC5A0"/>
                </a:solidFill>
                <a:latin typeface="Newsreader"/>
              </a:rPr>
              <a:t>$430M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274320"/>
            <a:ext cx="320040" cy="320040"/>
          </a:xfrm>
          <a:prstGeom prst="roundRect">
            <a:avLst>
              <a:gd name="adj" fmla="val 20000"/>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20040" cy="365760"/>
          </a:xfrm>
          <a:prstGeom prst="rect">
            <a:avLst/>
          </a:prstGeom>
          <a:noFill/>
        </p:spPr>
        <p:txBody>
          <a:bodyPr wrap="none" lIns="0" rIns="0">
            <a:spAutoFit/>
          </a:bodyPr>
          <a:lstStyle/>
          <a:p>
            <a:pPr algn="ctr"/>
            <a:r>
              <a:rPr sz="1600" b="1">
                <a:solidFill>
                  <a:srgbClr val="FFFFFF"/>
                </a:solidFill>
                <a:latin typeface="Inter"/>
              </a:rPr>
              <a:t>F</a:t>
            </a:r>
          </a:p>
        </p:txBody>
      </p:sp>
      <p:sp>
        <p:nvSpPr>
          <p:cNvPr id="4" name="TextBox 3"/>
          <p:cNvSpPr txBox="1"/>
          <p:nvPr/>
        </p:nvSpPr>
        <p:spPr>
          <a:xfrm>
            <a:off x="868680" y="292608"/>
            <a:ext cx="1828800" cy="365760"/>
          </a:xfrm>
          <a:prstGeom prst="rect">
            <a:avLst/>
          </a:prstGeom>
          <a:noFill/>
        </p:spPr>
        <p:txBody>
          <a:bodyPr wrap="square" lIns="0" rIns="0" tIns="0" bIns="0">
            <a:spAutoFit/>
          </a:bodyPr>
          <a:lstStyle/>
          <a:p>
            <a:pPr algn="l"/>
            <a:r>
              <a:rPr sz="1600" b="1">
                <a:solidFill>
                  <a:srgbClr val="0F1B2D"/>
                </a:solidFill>
                <a:latin typeface="Newsreader"/>
              </a:rPr>
              <a:t>Florence</a:t>
            </a:r>
          </a:p>
        </p:txBody>
      </p:sp>
      <p:sp>
        <p:nvSpPr>
          <p:cNvPr id="5" name="TextBox 4"/>
          <p:cNvSpPr txBox="1"/>
          <p:nvPr/>
        </p:nvSpPr>
        <p:spPr>
          <a:xfrm>
            <a:off x="7772400" y="320040"/>
            <a:ext cx="4114800" cy="274320"/>
          </a:xfrm>
          <a:prstGeom prst="rect">
            <a:avLst/>
          </a:prstGeom>
          <a:noFill/>
        </p:spPr>
        <p:txBody>
          <a:bodyPr wrap="square" lIns="0" rIns="0" tIns="0" bIns="0">
            <a:spAutoFit/>
          </a:bodyPr>
          <a:lstStyle/>
          <a:p>
            <a:pPr algn="r"/>
            <a:r>
              <a:rPr sz="900" b="1">
                <a:solidFill>
                  <a:srgbClr val="5B6675"/>
                </a:solidFill>
                <a:latin typeface="Inter"/>
              </a:rPr>
              <a:t>02  ·  THE STRUCTURAL DIFFERENCE</a:t>
            </a:r>
          </a:p>
        </p:txBody>
      </p:sp>
      <p:sp>
        <p:nvSpPr>
          <p:cNvPr id="6" name="TextBox 5"/>
          <p:cNvSpPr txBox="1"/>
          <p:nvPr/>
        </p:nvSpPr>
        <p:spPr>
          <a:xfrm>
            <a:off x="457200" y="914400"/>
            <a:ext cx="7315200" cy="274320"/>
          </a:xfrm>
          <a:prstGeom prst="rect">
            <a:avLst/>
          </a:prstGeom>
          <a:noFill/>
        </p:spPr>
        <p:txBody>
          <a:bodyPr wrap="square" lIns="0" rIns="0" tIns="0" bIns="0">
            <a:spAutoFit/>
          </a:bodyPr>
          <a:lstStyle/>
          <a:p>
            <a:pPr algn="l"/>
            <a:r>
              <a:rPr sz="1000" b="1">
                <a:solidFill>
                  <a:srgbClr val="089478"/>
                </a:solidFill>
                <a:latin typeface="Inter"/>
              </a:rPr>
              <a:t>02 · THE STRUCTURAL DIFFERENCE</a:t>
            </a:r>
          </a:p>
        </p:txBody>
      </p:sp>
      <p:sp>
        <p:nvSpPr>
          <p:cNvPr id="7" name="TextBox 6"/>
          <p:cNvSpPr txBox="1"/>
          <p:nvPr/>
        </p:nvSpPr>
        <p:spPr>
          <a:xfrm>
            <a:off x="457200" y="1280160"/>
            <a:ext cx="9144000" cy="1463040"/>
          </a:xfrm>
          <a:prstGeom prst="rect">
            <a:avLst/>
          </a:prstGeom>
          <a:noFill/>
        </p:spPr>
        <p:txBody>
          <a:bodyPr wrap="square" lIns="0" rIns="0" tIns="0" bIns="0">
            <a:spAutoFit/>
          </a:bodyPr>
          <a:lstStyle/>
          <a:p>
            <a:pPr algn="l"/>
            <a:r>
              <a:rPr sz="4400" b="1">
                <a:solidFill>
                  <a:srgbClr val="0F1B2D"/>
                </a:solidFill>
                <a:latin typeface="Newsreader"/>
              </a:rPr>
              <a:t>This is full-time conversion
— not agency replacement.</a:t>
            </a:r>
          </a:p>
        </p:txBody>
      </p:sp>
      <p:sp>
        <p:nvSpPr>
          <p:cNvPr id="8" name="Rectangle 7"/>
          <p:cNvSpPr/>
          <p:nvPr/>
        </p:nvSpPr>
        <p:spPr>
          <a:xfrm>
            <a:off x="457200" y="3474720"/>
            <a:ext cx="5303520" cy="2926080"/>
          </a:xfrm>
          <a:prstGeom prst="rect">
            <a:avLst/>
          </a:prstGeom>
          <a:solidFill>
            <a:srgbClr val="F4F6F8"/>
          </a:solidFill>
          <a:ln>
            <a:solidFill>
              <a:srgbClr val="E5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611880"/>
            <a:ext cx="3657600" cy="274320"/>
          </a:xfrm>
          <a:prstGeom prst="rect">
            <a:avLst/>
          </a:prstGeom>
          <a:noFill/>
        </p:spPr>
        <p:txBody>
          <a:bodyPr wrap="square" lIns="0" rIns="0" tIns="0" bIns="0">
            <a:spAutoFit/>
          </a:bodyPr>
          <a:lstStyle/>
          <a:p>
            <a:pPr algn="l"/>
            <a:r>
              <a:rPr sz="900" b="1">
                <a:solidFill>
                  <a:srgbClr val="5B6675"/>
                </a:solidFill>
                <a:latin typeface="Inter"/>
              </a:rPr>
              <a:t>THE AGENCY MODEL TODAY</a:t>
            </a:r>
          </a:p>
        </p:txBody>
      </p:sp>
      <p:sp>
        <p:nvSpPr>
          <p:cNvPr id="10" name="TextBox 9"/>
          <p:cNvSpPr txBox="1"/>
          <p:nvPr/>
        </p:nvSpPr>
        <p:spPr>
          <a:xfrm>
            <a:off x="777240" y="3886200"/>
            <a:ext cx="4572000" cy="457200"/>
          </a:xfrm>
          <a:prstGeom prst="rect">
            <a:avLst/>
          </a:prstGeom>
          <a:noFill/>
        </p:spPr>
        <p:txBody>
          <a:bodyPr wrap="square" lIns="0" rIns="0" tIns="0" bIns="0">
            <a:spAutoFit/>
          </a:bodyPr>
          <a:lstStyle/>
          <a:p>
            <a:pPr algn="l"/>
            <a:r>
              <a:rPr sz="1800" b="1">
                <a:solidFill>
                  <a:srgbClr val="0F1B2D"/>
                </a:solidFill>
                <a:latin typeface="Newsreader"/>
              </a:rPr>
              <a:t>Contingent.
Recycled.
Premium-priced.</a:t>
            </a:r>
          </a:p>
        </p:txBody>
      </p:sp>
      <p:sp>
        <p:nvSpPr>
          <p:cNvPr id="11" name="TextBox 10"/>
          <p:cNvSpPr txBox="1"/>
          <p:nvPr/>
        </p:nvSpPr>
        <p:spPr>
          <a:xfrm>
            <a:off x="777240" y="5212080"/>
            <a:ext cx="4572000" cy="1371600"/>
          </a:xfrm>
          <a:prstGeom prst="rect">
            <a:avLst/>
          </a:prstGeom>
          <a:noFill/>
        </p:spPr>
        <p:txBody>
          <a:bodyPr wrap="square" lIns="0" rIns="0" tIns="0" bIns="0">
            <a:spAutoFit/>
          </a:bodyPr>
          <a:lstStyle/>
          <a:p>
            <a:pPr algn="l"/>
            <a:r>
              <a:rPr sz="1100" b="0">
                <a:solidFill>
                  <a:srgbClr val="5B6675"/>
                </a:solidFill>
                <a:latin typeface="Inter"/>
              </a:rPr>
              <a:t>• No continuity of unit, team, or panel
• $29.60/hr staffing premium on every RN hour
• Outside the labor-partnership framework
• Cycle repeats every fiscal year</a:t>
            </a:r>
          </a:p>
        </p:txBody>
      </p:sp>
      <p:sp>
        <p:nvSpPr>
          <p:cNvPr id="12" name="Rectangle 11"/>
          <p:cNvSpPr/>
          <p:nvPr/>
        </p:nvSpPr>
        <p:spPr>
          <a:xfrm>
            <a:off x="6400800" y="3474720"/>
            <a:ext cx="5303520" cy="2926080"/>
          </a:xfrm>
          <a:prstGeom prst="rect">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3611880"/>
            <a:ext cx="3657600" cy="274320"/>
          </a:xfrm>
          <a:prstGeom prst="rect">
            <a:avLst/>
          </a:prstGeom>
          <a:noFill/>
        </p:spPr>
        <p:txBody>
          <a:bodyPr wrap="square" lIns="0" rIns="0" tIns="0" bIns="0">
            <a:spAutoFit/>
          </a:bodyPr>
          <a:lstStyle/>
          <a:p>
            <a:pPr algn="l"/>
            <a:r>
              <a:rPr sz="900" b="1">
                <a:solidFill>
                  <a:srgbClr val="FFFFFF"/>
                </a:solidFill>
                <a:latin typeface="Inter"/>
              </a:rPr>
              <a:t>THE FLORENCE PATHWAY</a:t>
            </a:r>
          </a:p>
        </p:txBody>
      </p:sp>
      <p:sp>
        <p:nvSpPr>
          <p:cNvPr id="14" name="TextBox 13"/>
          <p:cNvSpPr txBox="1"/>
          <p:nvPr/>
        </p:nvSpPr>
        <p:spPr>
          <a:xfrm>
            <a:off x="6720840" y="3886200"/>
            <a:ext cx="4572000" cy="457200"/>
          </a:xfrm>
          <a:prstGeom prst="rect">
            <a:avLst/>
          </a:prstGeom>
          <a:noFill/>
        </p:spPr>
        <p:txBody>
          <a:bodyPr wrap="square" lIns="0" rIns="0" tIns="0" bIns="0">
            <a:spAutoFit/>
          </a:bodyPr>
          <a:lstStyle/>
          <a:p>
            <a:pPr algn="l"/>
            <a:r>
              <a:rPr sz="1800" b="1">
                <a:solidFill>
                  <a:srgbClr val="FFFFFF"/>
                </a:solidFill>
                <a:latin typeface="Newsreader"/>
              </a:rPr>
              <a:t>Permanent.
Aligned.
Repeatable.</a:t>
            </a:r>
          </a:p>
        </p:txBody>
      </p:sp>
      <p:sp>
        <p:nvSpPr>
          <p:cNvPr id="15" name="TextBox 14"/>
          <p:cNvSpPr txBox="1"/>
          <p:nvPr/>
        </p:nvSpPr>
        <p:spPr>
          <a:xfrm>
            <a:off x="6720840" y="5212080"/>
            <a:ext cx="4572000" cy="1371600"/>
          </a:xfrm>
          <a:prstGeom prst="rect">
            <a:avLst/>
          </a:prstGeom>
          <a:noFill/>
        </p:spPr>
        <p:txBody>
          <a:bodyPr wrap="square" lIns="0" rIns="0" tIns="0" bIns="0">
            <a:spAutoFit/>
          </a:bodyPr>
          <a:lstStyle/>
          <a:p>
            <a:pPr algn="l"/>
            <a:r>
              <a:rPr sz="1100" b="0">
                <a:solidFill>
                  <a:srgbClr val="FFFFFF"/>
                </a:solidFill>
                <a:latin typeface="Inter"/>
              </a:rPr>
              <a:t>• Kaiser Permanente's standard hiring &amp; onboarding
• Full-time Kaiser Permanente employee, Kaiser Permanente comp &amp; benefits
• 3-year minimum tenure
• Labor-partnership aligned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274320"/>
            <a:ext cx="320040" cy="320040"/>
          </a:xfrm>
          <a:prstGeom prst="roundRect">
            <a:avLst>
              <a:gd name="adj" fmla="val 20000"/>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20040" cy="365760"/>
          </a:xfrm>
          <a:prstGeom prst="rect">
            <a:avLst/>
          </a:prstGeom>
          <a:noFill/>
        </p:spPr>
        <p:txBody>
          <a:bodyPr wrap="none" lIns="0" rIns="0">
            <a:spAutoFit/>
          </a:bodyPr>
          <a:lstStyle/>
          <a:p>
            <a:pPr algn="ctr"/>
            <a:r>
              <a:rPr sz="1600" b="1">
                <a:solidFill>
                  <a:srgbClr val="FFFFFF"/>
                </a:solidFill>
                <a:latin typeface="Inter"/>
              </a:rPr>
              <a:t>F</a:t>
            </a:r>
          </a:p>
        </p:txBody>
      </p:sp>
      <p:sp>
        <p:nvSpPr>
          <p:cNvPr id="4" name="TextBox 3"/>
          <p:cNvSpPr txBox="1"/>
          <p:nvPr/>
        </p:nvSpPr>
        <p:spPr>
          <a:xfrm>
            <a:off x="868680" y="292608"/>
            <a:ext cx="1828800" cy="365760"/>
          </a:xfrm>
          <a:prstGeom prst="rect">
            <a:avLst/>
          </a:prstGeom>
          <a:noFill/>
        </p:spPr>
        <p:txBody>
          <a:bodyPr wrap="square" lIns="0" rIns="0" tIns="0" bIns="0">
            <a:spAutoFit/>
          </a:bodyPr>
          <a:lstStyle/>
          <a:p>
            <a:pPr algn="l"/>
            <a:r>
              <a:rPr sz="1600" b="1">
                <a:solidFill>
                  <a:srgbClr val="0F1B2D"/>
                </a:solidFill>
                <a:latin typeface="Newsreader"/>
              </a:rPr>
              <a:t>Florence</a:t>
            </a:r>
          </a:p>
        </p:txBody>
      </p:sp>
      <p:sp>
        <p:nvSpPr>
          <p:cNvPr id="5" name="TextBox 4"/>
          <p:cNvSpPr txBox="1"/>
          <p:nvPr/>
        </p:nvSpPr>
        <p:spPr>
          <a:xfrm>
            <a:off x="7772400" y="320040"/>
            <a:ext cx="4114800" cy="274320"/>
          </a:xfrm>
          <a:prstGeom prst="rect">
            <a:avLst/>
          </a:prstGeom>
          <a:noFill/>
        </p:spPr>
        <p:txBody>
          <a:bodyPr wrap="square" lIns="0" rIns="0" tIns="0" bIns="0">
            <a:spAutoFit/>
          </a:bodyPr>
          <a:lstStyle/>
          <a:p>
            <a:pPr algn="r"/>
            <a:r>
              <a:rPr sz="900" b="1">
                <a:solidFill>
                  <a:srgbClr val="5B6675"/>
                </a:solidFill>
                <a:latin typeface="Inter"/>
              </a:rPr>
              <a:t>03  ·  PER-FACILITY DETAIL</a:t>
            </a:r>
          </a:p>
        </p:txBody>
      </p:sp>
      <p:sp>
        <p:nvSpPr>
          <p:cNvPr id="6" name="TextBox 5"/>
          <p:cNvSpPr txBox="1"/>
          <p:nvPr/>
        </p:nvSpPr>
        <p:spPr>
          <a:xfrm>
            <a:off x="457200" y="914400"/>
            <a:ext cx="7315200" cy="274320"/>
          </a:xfrm>
          <a:prstGeom prst="rect">
            <a:avLst/>
          </a:prstGeom>
          <a:noFill/>
        </p:spPr>
        <p:txBody>
          <a:bodyPr wrap="square" lIns="0" rIns="0" tIns="0" bIns="0">
            <a:spAutoFit/>
          </a:bodyPr>
          <a:lstStyle/>
          <a:p>
            <a:pPr algn="l"/>
            <a:r>
              <a:rPr sz="1000" b="1">
                <a:solidFill>
                  <a:srgbClr val="089478"/>
                </a:solidFill>
                <a:latin typeface="Inter"/>
              </a:rPr>
              <a:t>03 · PER-FACILITY DETAIL</a:t>
            </a:r>
          </a:p>
        </p:txBody>
      </p:sp>
      <p:sp>
        <p:nvSpPr>
          <p:cNvPr id="7" name="TextBox 6"/>
          <p:cNvSpPr txBox="1"/>
          <p:nvPr/>
        </p:nvSpPr>
        <p:spPr>
          <a:xfrm>
            <a:off x="457200" y="1280160"/>
            <a:ext cx="9144000" cy="1463040"/>
          </a:xfrm>
          <a:prstGeom prst="rect">
            <a:avLst/>
          </a:prstGeom>
          <a:noFill/>
        </p:spPr>
        <p:txBody>
          <a:bodyPr wrap="square" lIns="0" rIns="0" tIns="0" bIns="0">
            <a:spAutoFit/>
          </a:bodyPr>
          <a:lstStyle/>
          <a:p>
            <a:pPr algn="l"/>
            <a:r>
              <a:rPr sz="4400" b="1">
                <a:solidFill>
                  <a:srgbClr val="0F1B2D"/>
                </a:solidFill>
                <a:latin typeface="Newsreader"/>
              </a:rPr>
              <a:t>Top facilities by 24-month savings.</a:t>
            </a:r>
          </a:p>
        </p:txBody>
      </p:sp>
      <p:sp>
        <p:nvSpPr>
          <p:cNvPr id="8" name="TextBox 7"/>
          <p:cNvSpPr txBox="1"/>
          <p:nvPr/>
        </p:nvSpPr>
        <p:spPr>
          <a:xfrm>
            <a:off x="457200" y="3017520"/>
            <a:ext cx="5029200" cy="274320"/>
          </a:xfrm>
          <a:prstGeom prst="rect">
            <a:avLst/>
          </a:prstGeom>
          <a:noFill/>
        </p:spPr>
        <p:txBody>
          <a:bodyPr wrap="square" lIns="0" rIns="0" tIns="0" bIns="0">
            <a:spAutoFit/>
          </a:bodyPr>
          <a:lstStyle/>
          <a:p>
            <a:pPr algn="l"/>
            <a:r>
              <a:rPr sz="1000" b="1">
                <a:solidFill>
                  <a:srgbClr val="5B6675"/>
                </a:solidFill>
                <a:latin typeface="Inter"/>
              </a:rPr>
              <a:t>Facility</a:t>
            </a:r>
          </a:p>
        </p:txBody>
      </p:sp>
      <p:sp>
        <p:nvSpPr>
          <p:cNvPr id="9" name="TextBox 8"/>
          <p:cNvSpPr txBox="1"/>
          <p:nvPr/>
        </p:nvSpPr>
        <p:spPr>
          <a:xfrm>
            <a:off x="5577840" y="3017520"/>
            <a:ext cx="731520" cy="274320"/>
          </a:xfrm>
          <a:prstGeom prst="rect">
            <a:avLst/>
          </a:prstGeom>
          <a:noFill/>
        </p:spPr>
        <p:txBody>
          <a:bodyPr wrap="square" lIns="0" rIns="0" tIns="0" bIns="0">
            <a:spAutoFit/>
          </a:bodyPr>
          <a:lstStyle/>
          <a:p>
            <a:pPr algn="l"/>
            <a:r>
              <a:rPr sz="1000" b="1">
                <a:solidFill>
                  <a:srgbClr val="5B6675"/>
                </a:solidFill>
                <a:latin typeface="Inter"/>
              </a:rPr>
              <a:t>State</a:t>
            </a:r>
          </a:p>
        </p:txBody>
      </p:sp>
      <p:sp>
        <p:nvSpPr>
          <p:cNvPr id="10" name="TextBox 9"/>
          <p:cNvSpPr txBox="1"/>
          <p:nvPr/>
        </p:nvSpPr>
        <p:spPr>
          <a:xfrm>
            <a:off x="6400800" y="3017520"/>
            <a:ext cx="731520" cy="274320"/>
          </a:xfrm>
          <a:prstGeom prst="rect">
            <a:avLst/>
          </a:prstGeom>
          <a:noFill/>
        </p:spPr>
        <p:txBody>
          <a:bodyPr wrap="square" lIns="0" rIns="0" tIns="0" bIns="0">
            <a:spAutoFit/>
          </a:bodyPr>
          <a:lstStyle/>
          <a:p>
            <a:pPr algn="l"/>
            <a:r>
              <a:rPr sz="1000" b="1">
                <a:solidFill>
                  <a:srgbClr val="5B6675"/>
                </a:solidFill>
                <a:latin typeface="Inter"/>
              </a:rPr>
              <a:t>RNs</a:t>
            </a:r>
          </a:p>
        </p:txBody>
      </p:sp>
      <p:sp>
        <p:nvSpPr>
          <p:cNvPr id="11" name="TextBox 10"/>
          <p:cNvSpPr txBox="1"/>
          <p:nvPr/>
        </p:nvSpPr>
        <p:spPr>
          <a:xfrm>
            <a:off x="7315200" y="3017520"/>
            <a:ext cx="1828800" cy="274320"/>
          </a:xfrm>
          <a:prstGeom prst="rect">
            <a:avLst/>
          </a:prstGeom>
          <a:noFill/>
        </p:spPr>
        <p:txBody>
          <a:bodyPr wrap="square" lIns="0" rIns="0" tIns="0" bIns="0">
            <a:spAutoFit/>
          </a:bodyPr>
          <a:lstStyle/>
          <a:p>
            <a:pPr algn="l"/>
            <a:r>
              <a:rPr sz="1000" b="1">
                <a:solidFill>
                  <a:srgbClr val="5B6675"/>
                </a:solidFill>
                <a:latin typeface="Inter"/>
              </a:rPr>
              <a:t>24-mo savings</a:t>
            </a:r>
          </a:p>
        </p:txBody>
      </p:sp>
      <p:sp>
        <p:nvSpPr>
          <p:cNvPr id="12" name="TextBox 11"/>
          <p:cNvSpPr txBox="1"/>
          <p:nvPr/>
        </p:nvSpPr>
        <p:spPr>
          <a:xfrm>
            <a:off x="9235440" y="3017520"/>
            <a:ext cx="1463040" cy="274320"/>
          </a:xfrm>
          <a:prstGeom prst="rect">
            <a:avLst/>
          </a:prstGeom>
          <a:noFill/>
        </p:spPr>
        <p:txBody>
          <a:bodyPr wrap="square" lIns="0" rIns="0" tIns="0" bIns="0">
            <a:spAutoFit/>
          </a:bodyPr>
          <a:lstStyle/>
          <a:p>
            <a:pPr algn="l"/>
            <a:r>
              <a:rPr sz="1000" b="1">
                <a:solidFill>
                  <a:srgbClr val="5B6675"/>
                </a:solidFill>
                <a:latin typeface="Inter"/>
              </a:rPr>
              <a:t>Florence fee</a:t>
            </a:r>
          </a:p>
        </p:txBody>
      </p:sp>
      <p:sp>
        <p:nvSpPr>
          <p:cNvPr id="13" name="TextBox 12"/>
          <p:cNvSpPr txBox="1"/>
          <p:nvPr/>
        </p:nvSpPr>
        <p:spPr>
          <a:xfrm>
            <a:off x="10789920" y="3017520"/>
            <a:ext cx="914400" cy="274320"/>
          </a:xfrm>
          <a:prstGeom prst="rect">
            <a:avLst/>
          </a:prstGeom>
          <a:noFill/>
        </p:spPr>
        <p:txBody>
          <a:bodyPr wrap="square" lIns="0" rIns="0" tIns="0" bIns="0">
            <a:spAutoFit/>
          </a:bodyPr>
          <a:lstStyle/>
          <a:p>
            <a:pPr algn="l"/>
            <a:r>
              <a:rPr sz="1000" b="1">
                <a:solidFill>
                  <a:srgbClr val="5B6675"/>
                </a:solidFill>
                <a:latin typeface="Inter"/>
              </a:rPr>
              <a:t>ROI</a:t>
            </a:r>
          </a:p>
        </p:txBody>
      </p:sp>
      <p:sp>
        <p:nvSpPr>
          <p:cNvPr id="14" name="Rectangle 13"/>
          <p:cNvSpPr/>
          <p:nvPr/>
        </p:nvSpPr>
        <p:spPr>
          <a:xfrm>
            <a:off x="457200" y="3337560"/>
            <a:ext cx="11247120" cy="13716"/>
          </a:xfrm>
          <a:prstGeom prst="rect">
            <a:avLst/>
          </a:prstGeom>
          <a:solidFill>
            <a:srgbClr val="E5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520440"/>
            <a:ext cx="5029200" cy="320040"/>
          </a:xfrm>
          <a:prstGeom prst="rect">
            <a:avLst/>
          </a:prstGeom>
          <a:noFill/>
        </p:spPr>
        <p:txBody>
          <a:bodyPr wrap="square" lIns="0" rIns="0" tIns="0" bIns="0">
            <a:spAutoFit/>
          </a:bodyPr>
          <a:lstStyle/>
          <a:p>
            <a:pPr algn="l"/>
            <a:r>
              <a:rPr sz="1200" b="1">
                <a:solidFill>
                  <a:srgbClr val="0F1B2D"/>
                </a:solidFill>
                <a:latin typeface="Inter"/>
              </a:rPr>
              <a:t>KAISER FOUNDATION HOSPITAL FONTANA/ONTARIO</a:t>
            </a:r>
          </a:p>
        </p:txBody>
      </p:sp>
      <p:sp>
        <p:nvSpPr>
          <p:cNvPr id="16" name="TextBox 15"/>
          <p:cNvSpPr txBox="1"/>
          <p:nvPr/>
        </p:nvSpPr>
        <p:spPr>
          <a:xfrm>
            <a:off x="457200" y="3813048"/>
            <a:ext cx="5029200" cy="228600"/>
          </a:xfrm>
          <a:prstGeom prst="rect">
            <a:avLst/>
          </a:prstGeom>
          <a:noFill/>
        </p:spPr>
        <p:txBody>
          <a:bodyPr wrap="square" lIns="0" rIns="0" tIns="0" bIns="0">
            <a:spAutoFit/>
          </a:bodyPr>
          <a:lstStyle/>
          <a:p>
            <a:pPr algn="l"/>
            <a:r>
              <a:rPr sz="1000" b="0">
                <a:solidFill>
                  <a:srgbClr val="5B6675"/>
                </a:solidFill>
                <a:latin typeface="Inter"/>
              </a:rPr>
              <a:t>FONTANA</a:t>
            </a:r>
          </a:p>
        </p:txBody>
      </p:sp>
      <p:sp>
        <p:nvSpPr>
          <p:cNvPr id="17" name="TextBox 16"/>
          <p:cNvSpPr txBox="1"/>
          <p:nvPr/>
        </p:nvSpPr>
        <p:spPr>
          <a:xfrm>
            <a:off x="5577840" y="3520440"/>
            <a:ext cx="731520" cy="320040"/>
          </a:xfrm>
          <a:prstGeom prst="rect">
            <a:avLst/>
          </a:prstGeom>
          <a:noFill/>
        </p:spPr>
        <p:txBody>
          <a:bodyPr wrap="square" lIns="0" rIns="0" tIns="0" bIns="0">
            <a:spAutoFit/>
          </a:bodyPr>
          <a:lstStyle/>
          <a:p>
            <a:pPr algn="l"/>
            <a:r>
              <a:rPr sz="1200" b="0">
                <a:solidFill>
                  <a:srgbClr val="0F1B2D"/>
                </a:solidFill>
                <a:latin typeface="Inter"/>
              </a:rPr>
              <a:t>CA</a:t>
            </a:r>
          </a:p>
        </p:txBody>
      </p:sp>
      <p:sp>
        <p:nvSpPr>
          <p:cNvPr id="18" name="TextBox 17"/>
          <p:cNvSpPr txBox="1"/>
          <p:nvPr/>
        </p:nvSpPr>
        <p:spPr>
          <a:xfrm>
            <a:off x="6400800" y="3520440"/>
            <a:ext cx="731520" cy="320040"/>
          </a:xfrm>
          <a:prstGeom prst="rect">
            <a:avLst/>
          </a:prstGeom>
          <a:noFill/>
        </p:spPr>
        <p:txBody>
          <a:bodyPr wrap="square" lIns="0" rIns="0" tIns="0" bIns="0">
            <a:spAutoFit/>
          </a:bodyPr>
          <a:lstStyle/>
          <a:p>
            <a:pPr algn="l"/>
            <a:r>
              <a:rPr sz="1200" b="0">
                <a:solidFill>
                  <a:srgbClr val="0F1B2D"/>
                </a:solidFill>
                <a:latin typeface="Inter"/>
              </a:rPr>
              <a:t>728</a:t>
            </a:r>
          </a:p>
        </p:txBody>
      </p:sp>
      <p:sp>
        <p:nvSpPr>
          <p:cNvPr id="19" name="TextBox 18"/>
          <p:cNvSpPr txBox="1"/>
          <p:nvPr/>
        </p:nvSpPr>
        <p:spPr>
          <a:xfrm>
            <a:off x="7315200" y="3520440"/>
            <a:ext cx="1828800" cy="320040"/>
          </a:xfrm>
          <a:prstGeom prst="rect">
            <a:avLst/>
          </a:prstGeom>
          <a:noFill/>
        </p:spPr>
        <p:txBody>
          <a:bodyPr wrap="square" lIns="0" rIns="0" tIns="0" bIns="0">
            <a:spAutoFit/>
          </a:bodyPr>
          <a:lstStyle/>
          <a:p>
            <a:pPr algn="l"/>
            <a:r>
              <a:rPr sz="1400" b="1">
                <a:solidFill>
                  <a:srgbClr val="089478"/>
                </a:solidFill>
                <a:latin typeface="Newsreader"/>
              </a:rPr>
              <a:t>$71M</a:t>
            </a:r>
          </a:p>
        </p:txBody>
      </p:sp>
      <p:sp>
        <p:nvSpPr>
          <p:cNvPr id="20" name="TextBox 19"/>
          <p:cNvSpPr txBox="1"/>
          <p:nvPr/>
        </p:nvSpPr>
        <p:spPr>
          <a:xfrm>
            <a:off x="9235440" y="3520440"/>
            <a:ext cx="1463040" cy="320040"/>
          </a:xfrm>
          <a:prstGeom prst="rect">
            <a:avLst/>
          </a:prstGeom>
          <a:noFill/>
        </p:spPr>
        <p:txBody>
          <a:bodyPr wrap="square" lIns="0" rIns="0" tIns="0" bIns="0">
            <a:spAutoFit/>
          </a:bodyPr>
          <a:lstStyle/>
          <a:p>
            <a:pPr algn="l"/>
            <a:r>
              <a:rPr sz="1200" b="0">
                <a:solidFill>
                  <a:srgbClr val="0F1B2D"/>
                </a:solidFill>
                <a:latin typeface="Inter"/>
              </a:rPr>
              <a:t>$32M</a:t>
            </a:r>
          </a:p>
        </p:txBody>
      </p:sp>
      <p:sp>
        <p:nvSpPr>
          <p:cNvPr id="21" name="TextBox 20"/>
          <p:cNvSpPr txBox="1"/>
          <p:nvPr/>
        </p:nvSpPr>
        <p:spPr>
          <a:xfrm>
            <a:off x="10789920" y="3520440"/>
            <a:ext cx="914400" cy="320040"/>
          </a:xfrm>
          <a:prstGeom prst="rect">
            <a:avLst/>
          </a:prstGeom>
          <a:noFill/>
        </p:spPr>
        <p:txBody>
          <a:bodyPr wrap="square" lIns="0" rIns="0" tIns="0" bIns="0">
            <a:spAutoFit/>
          </a:bodyPr>
          <a:lstStyle/>
          <a:p>
            <a:pPr algn="l"/>
            <a:r>
              <a:rPr sz="1200" b="1">
                <a:solidFill>
                  <a:srgbClr val="089478"/>
                </a:solidFill>
                <a:latin typeface="Inter"/>
              </a:rPr>
              <a:t>2.2×</a:t>
            </a:r>
          </a:p>
        </p:txBody>
      </p:sp>
      <p:sp>
        <p:nvSpPr>
          <p:cNvPr id="22" name="TextBox 21"/>
          <p:cNvSpPr txBox="1"/>
          <p:nvPr/>
        </p:nvSpPr>
        <p:spPr>
          <a:xfrm>
            <a:off x="457200" y="4114800"/>
            <a:ext cx="5029200" cy="320040"/>
          </a:xfrm>
          <a:prstGeom prst="rect">
            <a:avLst/>
          </a:prstGeom>
          <a:noFill/>
        </p:spPr>
        <p:txBody>
          <a:bodyPr wrap="square" lIns="0" rIns="0" tIns="0" bIns="0">
            <a:spAutoFit/>
          </a:bodyPr>
          <a:lstStyle/>
          <a:p>
            <a:pPr algn="l"/>
            <a:r>
              <a:rPr sz="1200" b="1">
                <a:solidFill>
                  <a:srgbClr val="0F1B2D"/>
                </a:solidFill>
                <a:latin typeface="Inter"/>
              </a:rPr>
              <a:t>KAISER FOUNDATION HOSPITAL - ROSEVILLE</a:t>
            </a:r>
          </a:p>
        </p:txBody>
      </p:sp>
      <p:sp>
        <p:nvSpPr>
          <p:cNvPr id="23" name="TextBox 22"/>
          <p:cNvSpPr txBox="1"/>
          <p:nvPr/>
        </p:nvSpPr>
        <p:spPr>
          <a:xfrm>
            <a:off x="457200" y="4407408"/>
            <a:ext cx="5029200" cy="228600"/>
          </a:xfrm>
          <a:prstGeom prst="rect">
            <a:avLst/>
          </a:prstGeom>
          <a:noFill/>
        </p:spPr>
        <p:txBody>
          <a:bodyPr wrap="square" lIns="0" rIns="0" tIns="0" bIns="0">
            <a:spAutoFit/>
          </a:bodyPr>
          <a:lstStyle/>
          <a:p>
            <a:pPr algn="l"/>
            <a:r>
              <a:rPr sz="1000" b="0">
                <a:solidFill>
                  <a:srgbClr val="5B6675"/>
                </a:solidFill>
                <a:latin typeface="Inter"/>
              </a:rPr>
              <a:t>ROSEVILLE</a:t>
            </a:r>
          </a:p>
        </p:txBody>
      </p:sp>
      <p:sp>
        <p:nvSpPr>
          <p:cNvPr id="24" name="TextBox 23"/>
          <p:cNvSpPr txBox="1"/>
          <p:nvPr/>
        </p:nvSpPr>
        <p:spPr>
          <a:xfrm>
            <a:off x="5577840" y="4114800"/>
            <a:ext cx="731520" cy="320040"/>
          </a:xfrm>
          <a:prstGeom prst="rect">
            <a:avLst/>
          </a:prstGeom>
          <a:noFill/>
        </p:spPr>
        <p:txBody>
          <a:bodyPr wrap="square" lIns="0" rIns="0" tIns="0" bIns="0">
            <a:spAutoFit/>
          </a:bodyPr>
          <a:lstStyle/>
          <a:p>
            <a:pPr algn="l"/>
            <a:r>
              <a:rPr sz="1200" b="0">
                <a:solidFill>
                  <a:srgbClr val="0F1B2D"/>
                </a:solidFill>
                <a:latin typeface="Inter"/>
              </a:rPr>
              <a:t>CA</a:t>
            </a:r>
          </a:p>
        </p:txBody>
      </p:sp>
      <p:sp>
        <p:nvSpPr>
          <p:cNvPr id="25" name="TextBox 24"/>
          <p:cNvSpPr txBox="1"/>
          <p:nvPr/>
        </p:nvSpPr>
        <p:spPr>
          <a:xfrm>
            <a:off x="6400800" y="4114800"/>
            <a:ext cx="731520" cy="320040"/>
          </a:xfrm>
          <a:prstGeom prst="rect">
            <a:avLst/>
          </a:prstGeom>
          <a:noFill/>
        </p:spPr>
        <p:txBody>
          <a:bodyPr wrap="square" lIns="0" rIns="0" tIns="0" bIns="0">
            <a:spAutoFit/>
          </a:bodyPr>
          <a:lstStyle/>
          <a:p>
            <a:pPr algn="l"/>
            <a:r>
              <a:rPr sz="1200" b="0">
                <a:solidFill>
                  <a:srgbClr val="0F1B2D"/>
                </a:solidFill>
                <a:latin typeface="Inter"/>
              </a:rPr>
              <a:t>505</a:t>
            </a:r>
          </a:p>
        </p:txBody>
      </p:sp>
      <p:sp>
        <p:nvSpPr>
          <p:cNvPr id="26" name="TextBox 25"/>
          <p:cNvSpPr txBox="1"/>
          <p:nvPr/>
        </p:nvSpPr>
        <p:spPr>
          <a:xfrm>
            <a:off x="7315200" y="4114800"/>
            <a:ext cx="1828800" cy="320040"/>
          </a:xfrm>
          <a:prstGeom prst="rect">
            <a:avLst/>
          </a:prstGeom>
          <a:noFill/>
        </p:spPr>
        <p:txBody>
          <a:bodyPr wrap="square" lIns="0" rIns="0" tIns="0" bIns="0">
            <a:spAutoFit/>
          </a:bodyPr>
          <a:lstStyle/>
          <a:p>
            <a:pPr algn="l"/>
            <a:r>
              <a:rPr sz="1400" b="1">
                <a:solidFill>
                  <a:srgbClr val="089478"/>
                </a:solidFill>
                <a:latin typeface="Newsreader"/>
              </a:rPr>
              <a:t>$62M</a:t>
            </a:r>
          </a:p>
        </p:txBody>
      </p:sp>
      <p:sp>
        <p:nvSpPr>
          <p:cNvPr id="27" name="TextBox 26"/>
          <p:cNvSpPr txBox="1"/>
          <p:nvPr/>
        </p:nvSpPr>
        <p:spPr>
          <a:xfrm>
            <a:off x="9235440" y="4114800"/>
            <a:ext cx="1463040" cy="320040"/>
          </a:xfrm>
          <a:prstGeom prst="rect">
            <a:avLst/>
          </a:prstGeom>
          <a:noFill/>
        </p:spPr>
        <p:txBody>
          <a:bodyPr wrap="square" lIns="0" rIns="0" tIns="0" bIns="0">
            <a:spAutoFit/>
          </a:bodyPr>
          <a:lstStyle/>
          <a:p>
            <a:pPr algn="l"/>
            <a:r>
              <a:rPr sz="1200" b="0">
                <a:solidFill>
                  <a:srgbClr val="0F1B2D"/>
                </a:solidFill>
                <a:latin typeface="Inter"/>
              </a:rPr>
              <a:t>$24M</a:t>
            </a:r>
          </a:p>
        </p:txBody>
      </p:sp>
      <p:sp>
        <p:nvSpPr>
          <p:cNvPr id="28" name="TextBox 27"/>
          <p:cNvSpPr txBox="1"/>
          <p:nvPr/>
        </p:nvSpPr>
        <p:spPr>
          <a:xfrm>
            <a:off x="10789920" y="4114800"/>
            <a:ext cx="914400" cy="320040"/>
          </a:xfrm>
          <a:prstGeom prst="rect">
            <a:avLst/>
          </a:prstGeom>
          <a:noFill/>
        </p:spPr>
        <p:txBody>
          <a:bodyPr wrap="square" lIns="0" rIns="0" tIns="0" bIns="0">
            <a:spAutoFit/>
          </a:bodyPr>
          <a:lstStyle/>
          <a:p>
            <a:pPr algn="l"/>
            <a:r>
              <a:rPr sz="1200" b="1">
                <a:solidFill>
                  <a:srgbClr val="089478"/>
                </a:solidFill>
                <a:latin typeface="Inter"/>
              </a:rPr>
              <a:t>2.6×</a:t>
            </a:r>
          </a:p>
        </p:txBody>
      </p:sp>
      <p:sp>
        <p:nvSpPr>
          <p:cNvPr id="29" name="TextBox 28"/>
          <p:cNvSpPr txBox="1"/>
          <p:nvPr/>
        </p:nvSpPr>
        <p:spPr>
          <a:xfrm>
            <a:off x="457200" y="4709160"/>
            <a:ext cx="5029200" cy="320040"/>
          </a:xfrm>
          <a:prstGeom prst="rect">
            <a:avLst/>
          </a:prstGeom>
          <a:noFill/>
        </p:spPr>
        <p:txBody>
          <a:bodyPr wrap="square" lIns="0" rIns="0" tIns="0" bIns="0">
            <a:spAutoFit/>
          </a:bodyPr>
          <a:lstStyle/>
          <a:p>
            <a:pPr algn="l"/>
            <a:r>
              <a:rPr sz="1200" b="1">
                <a:solidFill>
                  <a:srgbClr val="0F1B2D"/>
                </a:solidFill>
                <a:latin typeface="Inter"/>
              </a:rPr>
              <a:t>KAISER FOUNDATION HOSPITAL - LOS ANGELES</a:t>
            </a:r>
          </a:p>
        </p:txBody>
      </p:sp>
      <p:sp>
        <p:nvSpPr>
          <p:cNvPr id="30" name="TextBox 29"/>
          <p:cNvSpPr txBox="1"/>
          <p:nvPr/>
        </p:nvSpPr>
        <p:spPr>
          <a:xfrm>
            <a:off x="457200" y="5001768"/>
            <a:ext cx="5029200" cy="228600"/>
          </a:xfrm>
          <a:prstGeom prst="rect">
            <a:avLst/>
          </a:prstGeom>
          <a:noFill/>
        </p:spPr>
        <p:txBody>
          <a:bodyPr wrap="square" lIns="0" rIns="0" tIns="0" bIns="0">
            <a:spAutoFit/>
          </a:bodyPr>
          <a:lstStyle/>
          <a:p>
            <a:pPr algn="l"/>
            <a:r>
              <a:rPr sz="1000" b="0">
                <a:solidFill>
                  <a:srgbClr val="5B6675"/>
                </a:solidFill>
                <a:latin typeface="Inter"/>
              </a:rPr>
              <a:t>LOS ANGELES</a:t>
            </a:r>
          </a:p>
        </p:txBody>
      </p:sp>
      <p:sp>
        <p:nvSpPr>
          <p:cNvPr id="31" name="TextBox 30"/>
          <p:cNvSpPr txBox="1"/>
          <p:nvPr/>
        </p:nvSpPr>
        <p:spPr>
          <a:xfrm>
            <a:off x="5577840" y="4709160"/>
            <a:ext cx="731520" cy="320040"/>
          </a:xfrm>
          <a:prstGeom prst="rect">
            <a:avLst/>
          </a:prstGeom>
          <a:noFill/>
        </p:spPr>
        <p:txBody>
          <a:bodyPr wrap="square" lIns="0" rIns="0" tIns="0" bIns="0">
            <a:spAutoFit/>
          </a:bodyPr>
          <a:lstStyle/>
          <a:p>
            <a:pPr algn="l"/>
            <a:r>
              <a:rPr sz="1200" b="0">
                <a:solidFill>
                  <a:srgbClr val="0F1B2D"/>
                </a:solidFill>
                <a:latin typeface="Inter"/>
              </a:rPr>
              <a:t>CA</a:t>
            </a:r>
          </a:p>
        </p:txBody>
      </p:sp>
      <p:sp>
        <p:nvSpPr>
          <p:cNvPr id="32" name="TextBox 31"/>
          <p:cNvSpPr txBox="1"/>
          <p:nvPr/>
        </p:nvSpPr>
        <p:spPr>
          <a:xfrm>
            <a:off x="6400800" y="4709160"/>
            <a:ext cx="731520" cy="320040"/>
          </a:xfrm>
          <a:prstGeom prst="rect">
            <a:avLst/>
          </a:prstGeom>
          <a:noFill/>
        </p:spPr>
        <p:txBody>
          <a:bodyPr wrap="square" lIns="0" rIns="0" tIns="0" bIns="0">
            <a:spAutoFit/>
          </a:bodyPr>
          <a:lstStyle/>
          <a:p>
            <a:pPr algn="l"/>
            <a:r>
              <a:rPr sz="1200" b="0">
                <a:solidFill>
                  <a:srgbClr val="0F1B2D"/>
                </a:solidFill>
                <a:latin typeface="Inter"/>
              </a:rPr>
              <a:t>581</a:t>
            </a:r>
          </a:p>
        </p:txBody>
      </p:sp>
      <p:sp>
        <p:nvSpPr>
          <p:cNvPr id="33" name="TextBox 32"/>
          <p:cNvSpPr txBox="1"/>
          <p:nvPr/>
        </p:nvSpPr>
        <p:spPr>
          <a:xfrm>
            <a:off x="7315200" y="4709160"/>
            <a:ext cx="1828800" cy="320040"/>
          </a:xfrm>
          <a:prstGeom prst="rect">
            <a:avLst/>
          </a:prstGeom>
          <a:noFill/>
        </p:spPr>
        <p:txBody>
          <a:bodyPr wrap="square" lIns="0" rIns="0" tIns="0" bIns="0">
            <a:spAutoFit/>
          </a:bodyPr>
          <a:lstStyle/>
          <a:p>
            <a:pPr algn="l"/>
            <a:r>
              <a:rPr sz="1400" b="1">
                <a:solidFill>
                  <a:srgbClr val="089478"/>
                </a:solidFill>
                <a:latin typeface="Newsreader"/>
              </a:rPr>
              <a:t>$60M</a:t>
            </a:r>
          </a:p>
        </p:txBody>
      </p:sp>
      <p:sp>
        <p:nvSpPr>
          <p:cNvPr id="34" name="TextBox 33"/>
          <p:cNvSpPr txBox="1"/>
          <p:nvPr/>
        </p:nvSpPr>
        <p:spPr>
          <a:xfrm>
            <a:off x="9235440" y="4709160"/>
            <a:ext cx="1463040" cy="320040"/>
          </a:xfrm>
          <a:prstGeom prst="rect">
            <a:avLst/>
          </a:prstGeom>
          <a:noFill/>
        </p:spPr>
        <p:txBody>
          <a:bodyPr wrap="square" lIns="0" rIns="0" tIns="0" bIns="0">
            <a:spAutoFit/>
          </a:bodyPr>
          <a:lstStyle/>
          <a:p>
            <a:pPr algn="l"/>
            <a:r>
              <a:rPr sz="1200" b="0">
                <a:solidFill>
                  <a:srgbClr val="0F1B2D"/>
                </a:solidFill>
                <a:latin typeface="Inter"/>
              </a:rPr>
              <a:t>$25M</a:t>
            </a:r>
          </a:p>
        </p:txBody>
      </p:sp>
      <p:sp>
        <p:nvSpPr>
          <p:cNvPr id="35" name="TextBox 34"/>
          <p:cNvSpPr txBox="1"/>
          <p:nvPr/>
        </p:nvSpPr>
        <p:spPr>
          <a:xfrm>
            <a:off x="10789920" y="4709160"/>
            <a:ext cx="914400" cy="320040"/>
          </a:xfrm>
          <a:prstGeom prst="rect">
            <a:avLst/>
          </a:prstGeom>
          <a:noFill/>
        </p:spPr>
        <p:txBody>
          <a:bodyPr wrap="square" lIns="0" rIns="0" tIns="0" bIns="0">
            <a:spAutoFit/>
          </a:bodyPr>
          <a:lstStyle/>
          <a:p>
            <a:pPr algn="l"/>
            <a:r>
              <a:rPr sz="1200" b="1">
                <a:solidFill>
                  <a:srgbClr val="089478"/>
                </a:solidFill>
                <a:latin typeface="Inter"/>
              </a:rPr>
              <a:t>2.4×</a:t>
            </a:r>
          </a:p>
        </p:txBody>
      </p:sp>
      <p:sp>
        <p:nvSpPr>
          <p:cNvPr id="36" name="TextBox 35"/>
          <p:cNvSpPr txBox="1"/>
          <p:nvPr/>
        </p:nvSpPr>
        <p:spPr>
          <a:xfrm>
            <a:off x="457200" y="5303520"/>
            <a:ext cx="5029200" cy="320040"/>
          </a:xfrm>
          <a:prstGeom prst="rect">
            <a:avLst/>
          </a:prstGeom>
          <a:noFill/>
        </p:spPr>
        <p:txBody>
          <a:bodyPr wrap="square" lIns="0" rIns="0" tIns="0" bIns="0">
            <a:spAutoFit/>
          </a:bodyPr>
          <a:lstStyle/>
          <a:p>
            <a:pPr algn="l"/>
            <a:r>
              <a:rPr sz="1200" b="1">
                <a:solidFill>
                  <a:srgbClr val="0F1B2D"/>
                </a:solidFill>
                <a:latin typeface="Inter"/>
              </a:rPr>
              <a:t>KAISER FOUNDATION HOSPITAL - SAN DIEGO</a:t>
            </a:r>
          </a:p>
        </p:txBody>
      </p:sp>
      <p:sp>
        <p:nvSpPr>
          <p:cNvPr id="37" name="TextBox 36"/>
          <p:cNvSpPr txBox="1"/>
          <p:nvPr/>
        </p:nvSpPr>
        <p:spPr>
          <a:xfrm>
            <a:off x="457200" y="5596128"/>
            <a:ext cx="5029200" cy="228600"/>
          </a:xfrm>
          <a:prstGeom prst="rect">
            <a:avLst/>
          </a:prstGeom>
          <a:noFill/>
        </p:spPr>
        <p:txBody>
          <a:bodyPr wrap="square" lIns="0" rIns="0" tIns="0" bIns="0">
            <a:spAutoFit/>
          </a:bodyPr>
          <a:lstStyle/>
          <a:p>
            <a:pPr algn="l"/>
            <a:r>
              <a:rPr sz="1000" b="0">
                <a:solidFill>
                  <a:srgbClr val="5B6675"/>
                </a:solidFill>
                <a:latin typeface="Inter"/>
              </a:rPr>
              <a:t>SAN DIEGO</a:t>
            </a:r>
          </a:p>
        </p:txBody>
      </p:sp>
      <p:sp>
        <p:nvSpPr>
          <p:cNvPr id="38" name="TextBox 37"/>
          <p:cNvSpPr txBox="1"/>
          <p:nvPr/>
        </p:nvSpPr>
        <p:spPr>
          <a:xfrm>
            <a:off x="5577840" y="5303520"/>
            <a:ext cx="731520" cy="320040"/>
          </a:xfrm>
          <a:prstGeom prst="rect">
            <a:avLst/>
          </a:prstGeom>
          <a:noFill/>
        </p:spPr>
        <p:txBody>
          <a:bodyPr wrap="square" lIns="0" rIns="0" tIns="0" bIns="0">
            <a:spAutoFit/>
          </a:bodyPr>
          <a:lstStyle/>
          <a:p>
            <a:pPr algn="l"/>
            <a:r>
              <a:rPr sz="1200" b="0">
                <a:solidFill>
                  <a:srgbClr val="0F1B2D"/>
                </a:solidFill>
                <a:latin typeface="Inter"/>
              </a:rPr>
              <a:t>CA</a:t>
            </a:r>
          </a:p>
        </p:txBody>
      </p:sp>
      <p:sp>
        <p:nvSpPr>
          <p:cNvPr id="39" name="TextBox 38"/>
          <p:cNvSpPr txBox="1"/>
          <p:nvPr/>
        </p:nvSpPr>
        <p:spPr>
          <a:xfrm>
            <a:off x="6400800" y="5303520"/>
            <a:ext cx="731520" cy="320040"/>
          </a:xfrm>
          <a:prstGeom prst="rect">
            <a:avLst/>
          </a:prstGeom>
          <a:noFill/>
        </p:spPr>
        <p:txBody>
          <a:bodyPr wrap="square" lIns="0" rIns="0" tIns="0" bIns="0">
            <a:spAutoFit/>
          </a:bodyPr>
          <a:lstStyle/>
          <a:p>
            <a:pPr algn="l"/>
            <a:r>
              <a:rPr sz="1200" b="0">
                <a:solidFill>
                  <a:srgbClr val="0F1B2D"/>
                </a:solidFill>
                <a:latin typeface="Inter"/>
              </a:rPr>
              <a:t>611</a:t>
            </a:r>
          </a:p>
        </p:txBody>
      </p:sp>
      <p:sp>
        <p:nvSpPr>
          <p:cNvPr id="40" name="TextBox 39"/>
          <p:cNvSpPr txBox="1"/>
          <p:nvPr/>
        </p:nvSpPr>
        <p:spPr>
          <a:xfrm>
            <a:off x="7315200" y="5303520"/>
            <a:ext cx="1828800" cy="320040"/>
          </a:xfrm>
          <a:prstGeom prst="rect">
            <a:avLst/>
          </a:prstGeom>
          <a:noFill/>
        </p:spPr>
        <p:txBody>
          <a:bodyPr wrap="square" lIns="0" rIns="0" tIns="0" bIns="0">
            <a:spAutoFit/>
          </a:bodyPr>
          <a:lstStyle/>
          <a:p>
            <a:pPr algn="l"/>
            <a:r>
              <a:rPr sz="1400" b="1">
                <a:solidFill>
                  <a:srgbClr val="089478"/>
                </a:solidFill>
                <a:latin typeface="Newsreader"/>
              </a:rPr>
              <a:t>$53M</a:t>
            </a:r>
          </a:p>
        </p:txBody>
      </p:sp>
      <p:sp>
        <p:nvSpPr>
          <p:cNvPr id="41" name="TextBox 40"/>
          <p:cNvSpPr txBox="1"/>
          <p:nvPr/>
        </p:nvSpPr>
        <p:spPr>
          <a:xfrm>
            <a:off x="9235440" y="5303520"/>
            <a:ext cx="1463040" cy="320040"/>
          </a:xfrm>
          <a:prstGeom prst="rect">
            <a:avLst/>
          </a:prstGeom>
          <a:noFill/>
        </p:spPr>
        <p:txBody>
          <a:bodyPr wrap="square" lIns="0" rIns="0" tIns="0" bIns="0">
            <a:spAutoFit/>
          </a:bodyPr>
          <a:lstStyle/>
          <a:p>
            <a:pPr algn="l"/>
            <a:r>
              <a:rPr sz="1200" b="0">
                <a:solidFill>
                  <a:srgbClr val="0F1B2D"/>
                </a:solidFill>
                <a:latin typeface="Inter"/>
              </a:rPr>
              <a:t>$29M</a:t>
            </a:r>
          </a:p>
        </p:txBody>
      </p:sp>
      <p:sp>
        <p:nvSpPr>
          <p:cNvPr id="42" name="TextBox 41"/>
          <p:cNvSpPr txBox="1"/>
          <p:nvPr/>
        </p:nvSpPr>
        <p:spPr>
          <a:xfrm>
            <a:off x="10789920" y="5303520"/>
            <a:ext cx="914400" cy="320040"/>
          </a:xfrm>
          <a:prstGeom prst="rect">
            <a:avLst/>
          </a:prstGeom>
          <a:noFill/>
        </p:spPr>
        <p:txBody>
          <a:bodyPr wrap="square" lIns="0" rIns="0" tIns="0" bIns="0">
            <a:spAutoFit/>
          </a:bodyPr>
          <a:lstStyle/>
          <a:p>
            <a:pPr algn="l"/>
            <a:r>
              <a:rPr sz="1200" b="1">
                <a:solidFill>
                  <a:srgbClr val="089478"/>
                </a:solidFill>
                <a:latin typeface="Inter"/>
              </a:rPr>
              <a:t>1.9×</a:t>
            </a:r>
          </a:p>
        </p:txBody>
      </p:sp>
      <p:sp>
        <p:nvSpPr>
          <p:cNvPr id="43" name="TextBox 42"/>
          <p:cNvSpPr txBox="1"/>
          <p:nvPr/>
        </p:nvSpPr>
        <p:spPr>
          <a:xfrm>
            <a:off x="457200" y="5897880"/>
            <a:ext cx="5029200" cy="320040"/>
          </a:xfrm>
          <a:prstGeom prst="rect">
            <a:avLst/>
          </a:prstGeom>
          <a:noFill/>
        </p:spPr>
        <p:txBody>
          <a:bodyPr wrap="square" lIns="0" rIns="0" tIns="0" bIns="0">
            <a:spAutoFit/>
          </a:bodyPr>
          <a:lstStyle/>
          <a:p>
            <a:pPr algn="l"/>
            <a:r>
              <a:rPr sz="1200" b="1">
                <a:solidFill>
                  <a:srgbClr val="0F1B2D"/>
                </a:solidFill>
                <a:latin typeface="Inter"/>
              </a:rPr>
              <a:t>KAISER FOUNDATION HOSP SO SACRAMENTO</a:t>
            </a:r>
          </a:p>
        </p:txBody>
      </p:sp>
      <p:sp>
        <p:nvSpPr>
          <p:cNvPr id="44" name="TextBox 43"/>
          <p:cNvSpPr txBox="1"/>
          <p:nvPr/>
        </p:nvSpPr>
        <p:spPr>
          <a:xfrm>
            <a:off x="457200" y="6190488"/>
            <a:ext cx="5029200" cy="228600"/>
          </a:xfrm>
          <a:prstGeom prst="rect">
            <a:avLst/>
          </a:prstGeom>
          <a:noFill/>
        </p:spPr>
        <p:txBody>
          <a:bodyPr wrap="square" lIns="0" rIns="0" tIns="0" bIns="0">
            <a:spAutoFit/>
          </a:bodyPr>
          <a:lstStyle/>
          <a:p>
            <a:pPr algn="l"/>
            <a:r>
              <a:rPr sz="1000" b="0">
                <a:solidFill>
                  <a:srgbClr val="5B6675"/>
                </a:solidFill>
                <a:latin typeface="Inter"/>
              </a:rPr>
              <a:t>SACRAMENTO</a:t>
            </a:r>
          </a:p>
        </p:txBody>
      </p:sp>
      <p:sp>
        <p:nvSpPr>
          <p:cNvPr id="45" name="TextBox 44"/>
          <p:cNvSpPr txBox="1"/>
          <p:nvPr/>
        </p:nvSpPr>
        <p:spPr>
          <a:xfrm>
            <a:off x="5577840" y="5897880"/>
            <a:ext cx="731520" cy="320040"/>
          </a:xfrm>
          <a:prstGeom prst="rect">
            <a:avLst/>
          </a:prstGeom>
          <a:noFill/>
        </p:spPr>
        <p:txBody>
          <a:bodyPr wrap="square" lIns="0" rIns="0" tIns="0" bIns="0">
            <a:spAutoFit/>
          </a:bodyPr>
          <a:lstStyle/>
          <a:p>
            <a:pPr algn="l"/>
            <a:r>
              <a:rPr sz="1200" b="0">
                <a:solidFill>
                  <a:srgbClr val="0F1B2D"/>
                </a:solidFill>
                <a:latin typeface="Inter"/>
              </a:rPr>
              <a:t>CA</a:t>
            </a:r>
          </a:p>
        </p:txBody>
      </p:sp>
      <p:sp>
        <p:nvSpPr>
          <p:cNvPr id="46" name="TextBox 45"/>
          <p:cNvSpPr txBox="1"/>
          <p:nvPr/>
        </p:nvSpPr>
        <p:spPr>
          <a:xfrm>
            <a:off x="6400800" y="5897880"/>
            <a:ext cx="731520" cy="320040"/>
          </a:xfrm>
          <a:prstGeom prst="rect">
            <a:avLst/>
          </a:prstGeom>
          <a:noFill/>
        </p:spPr>
        <p:txBody>
          <a:bodyPr wrap="square" lIns="0" rIns="0" tIns="0" bIns="0">
            <a:spAutoFit/>
          </a:bodyPr>
          <a:lstStyle/>
          <a:p>
            <a:pPr algn="l"/>
            <a:r>
              <a:rPr sz="1200" b="0">
                <a:solidFill>
                  <a:srgbClr val="0F1B2D"/>
                </a:solidFill>
                <a:latin typeface="Inter"/>
              </a:rPr>
              <a:t>437</a:t>
            </a:r>
          </a:p>
        </p:txBody>
      </p:sp>
      <p:sp>
        <p:nvSpPr>
          <p:cNvPr id="47" name="TextBox 46"/>
          <p:cNvSpPr txBox="1"/>
          <p:nvPr/>
        </p:nvSpPr>
        <p:spPr>
          <a:xfrm>
            <a:off x="7315200" y="5897880"/>
            <a:ext cx="1828800" cy="320040"/>
          </a:xfrm>
          <a:prstGeom prst="rect">
            <a:avLst/>
          </a:prstGeom>
          <a:noFill/>
        </p:spPr>
        <p:txBody>
          <a:bodyPr wrap="square" lIns="0" rIns="0" tIns="0" bIns="0">
            <a:spAutoFit/>
          </a:bodyPr>
          <a:lstStyle/>
          <a:p>
            <a:pPr algn="l"/>
            <a:r>
              <a:rPr sz="1400" b="1">
                <a:solidFill>
                  <a:srgbClr val="089478"/>
                </a:solidFill>
                <a:latin typeface="Newsreader"/>
              </a:rPr>
              <a:t>$43M</a:t>
            </a:r>
          </a:p>
        </p:txBody>
      </p:sp>
      <p:sp>
        <p:nvSpPr>
          <p:cNvPr id="48" name="TextBox 47"/>
          <p:cNvSpPr txBox="1"/>
          <p:nvPr/>
        </p:nvSpPr>
        <p:spPr>
          <a:xfrm>
            <a:off x="9235440" y="5897880"/>
            <a:ext cx="1463040" cy="320040"/>
          </a:xfrm>
          <a:prstGeom prst="rect">
            <a:avLst/>
          </a:prstGeom>
          <a:noFill/>
        </p:spPr>
        <p:txBody>
          <a:bodyPr wrap="square" lIns="0" rIns="0" tIns="0" bIns="0">
            <a:spAutoFit/>
          </a:bodyPr>
          <a:lstStyle/>
          <a:p>
            <a:pPr algn="l"/>
            <a:r>
              <a:rPr sz="1200" b="0">
                <a:solidFill>
                  <a:srgbClr val="0F1B2D"/>
                </a:solidFill>
                <a:latin typeface="Inter"/>
              </a:rPr>
              <a:t>$20M</a:t>
            </a:r>
          </a:p>
        </p:txBody>
      </p:sp>
      <p:sp>
        <p:nvSpPr>
          <p:cNvPr id="49" name="TextBox 48"/>
          <p:cNvSpPr txBox="1"/>
          <p:nvPr/>
        </p:nvSpPr>
        <p:spPr>
          <a:xfrm>
            <a:off x="10789920" y="5897880"/>
            <a:ext cx="914400" cy="320040"/>
          </a:xfrm>
          <a:prstGeom prst="rect">
            <a:avLst/>
          </a:prstGeom>
          <a:noFill/>
        </p:spPr>
        <p:txBody>
          <a:bodyPr wrap="square" lIns="0" rIns="0" tIns="0" bIns="0">
            <a:spAutoFit/>
          </a:bodyPr>
          <a:lstStyle/>
          <a:p>
            <a:pPr algn="l"/>
            <a:r>
              <a:rPr sz="1200" b="1">
                <a:solidFill>
                  <a:srgbClr val="089478"/>
                </a:solidFill>
                <a:latin typeface="Inter"/>
              </a:rPr>
              <a:t>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274320"/>
            <a:ext cx="320040" cy="320040"/>
          </a:xfrm>
          <a:prstGeom prst="roundRect">
            <a:avLst>
              <a:gd name="adj" fmla="val 20000"/>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20040" cy="365760"/>
          </a:xfrm>
          <a:prstGeom prst="rect">
            <a:avLst/>
          </a:prstGeom>
          <a:noFill/>
        </p:spPr>
        <p:txBody>
          <a:bodyPr wrap="none" lIns="0" rIns="0">
            <a:spAutoFit/>
          </a:bodyPr>
          <a:lstStyle/>
          <a:p>
            <a:pPr algn="ctr"/>
            <a:r>
              <a:rPr sz="1600" b="1">
                <a:solidFill>
                  <a:srgbClr val="FFFFFF"/>
                </a:solidFill>
                <a:latin typeface="Inter"/>
              </a:rPr>
              <a:t>F</a:t>
            </a:r>
          </a:p>
        </p:txBody>
      </p:sp>
      <p:sp>
        <p:nvSpPr>
          <p:cNvPr id="4" name="TextBox 3"/>
          <p:cNvSpPr txBox="1"/>
          <p:nvPr/>
        </p:nvSpPr>
        <p:spPr>
          <a:xfrm>
            <a:off x="868680" y="292608"/>
            <a:ext cx="1828800" cy="365760"/>
          </a:xfrm>
          <a:prstGeom prst="rect">
            <a:avLst/>
          </a:prstGeom>
          <a:noFill/>
        </p:spPr>
        <p:txBody>
          <a:bodyPr wrap="square" lIns="0" rIns="0" tIns="0" bIns="0">
            <a:spAutoFit/>
          </a:bodyPr>
          <a:lstStyle/>
          <a:p>
            <a:pPr algn="l"/>
            <a:r>
              <a:rPr sz="1600" b="1">
                <a:solidFill>
                  <a:srgbClr val="0F1B2D"/>
                </a:solidFill>
                <a:latin typeface="Newsreader"/>
              </a:rPr>
              <a:t>Florence</a:t>
            </a:r>
          </a:p>
        </p:txBody>
      </p:sp>
      <p:sp>
        <p:nvSpPr>
          <p:cNvPr id="5" name="TextBox 4"/>
          <p:cNvSpPr txBox="1"/>
          <p:nvPr/>
        </p:nvSpPr>
        <p:spPr>
          <a:xfrm>
            <a:off x="7772400" y="320040"/>
            <a:ext cx="4114800" cy="274320"/>
          </a:xfrm>
          <a:prstGeom prst="rect">
            <a:avLst/>
          </a:prstGeom>
          <a:noFill/>
        </p:spPr>
        <p:txBody>
          <a:bodyPr wrap="square" lIns="0" rIns="0" tIns="0" bIns="0">
            <a:spAutoFit/>
          </a:bodyPr>
          <a:lstStyle/>
          <a:p>
            <a:pPr algn="r"/>
            <a:r>
              <a:rPr sz="900" b="1">
                <a:solidFill>
                  <a:srgbClr val="5B6675"/>
                </a:solidFill>
                <a:latin typeface="Inter"/>
              </a:rPr>
              <a:t>04  ·  THE MATH</a:t>
            </a:r>
          </a:p>
        </p:txBody>
      </p:sp>
      <p:sp>
        <p:nvSpPr>
          <p:cNvPr id="6" name="TextBox 5"/>
          <p:cNvSpPr txBox="1"/>
          <p:nvPr/>
        </p:nvSpPr>
        <p:spPr>
          <a:xfrm>
            <a:off x="457200" y="914400"/>
            <a:ext cx="7315200" cy="274320"/>
          </a:xfrm>
          <a:prstGeom prst="rect">
            <a:avLst/>
          </a:prstGeom>
          <a:noFill/>
        </p:spPr>
        <p:txBody>
          <a:bodyPr wrap="square" lIns="0" rIns="0" tIns="0" bIns="0">
            <a:spAutoFit/>
          </a:bodyPr>
          <a:lstStyle/>
          <a:p>
            <a:pPr algn="l"/>
            <a:r>
              <a:rPr sz="1000" b="1">
                <a:solidFill>
                  <a:srgbClr val="089478"/>
                </a:solidFill>
                <a:latin typeface="Inter"/>
              </a:rPr>
              <a:t>04 · THE MATH</a:t>
            </a:r>
          </a:p>
        </p:txBody>
      </p:sp>
      <p:sp>
        <p:nvSpPr>
          <p:cNvPr id="7" name="TextBox 6"/>
          <p:cNvSpPr txBox="1"/>
          <p:nvPr/>
        </p:nvSpPr>
        <p:spPr>
          <a:xfrm>
            <a:off x="457200" y="1280160"/>
            <a:ext cx="9144000" cy="1463040"/>
          </a:xfrm>
          <a:prstGeom prst="rect">
            <a:avLst/>
          </a:prstGeom>
          <a:noFill/>
        </p:spPr>
        <p:txBody>
          <a:bodyPr wrap="square" lIns="0" rIns="0" tIns="0" bIns="0">
            <a:spAutoFit/>
          </a:bodyPr>
          <a:lstStyle/>
          <a:p>
            <a:pPr algn="l"/>
            <a:r>
              <a:rPr sz="4400" b="1">
                <a:solidFill>
                  <a:srgbClr val="0F1B2D"/>
                </a:solidFill>
                <a:latin typeface="Newsreader"/>
              </a:rPr>
              <a:t>$861M in net savings over 24 months.</a:t>
            </a:r>
          </a:p>
        </p:txBody>
      </p:sp>
      <p:sp>
        <p:nvSpPr>
          <p:cNvPr id="8" name="TextBox 7"/>
          <p:cNvSpPr txBox="1"/>
          <p:nvPr/>
        </p:nvSpPr>
        <p:spPr>
          <a:xfrm>
            <a:off x="457200" y="2560320"/>
            <a:ext cx="10972800" cy="1828800"/>
          </a:xfrm>
          <a:prstGeom prst="rect">
            <a:avLst/>
          </a:prstGeom>
          <a:noFill/>
        </p:spPr>
        <p:txBody>
          <a:bodyPr wrap="square" lIns="0" rIns="0" tIns="0" bIns="0">
            <a:spAutoFit/>
          </a:bodyPr>
          <a:lstStyle/>
          <a:p>
            <a:pPr algn="l"/>
            <a:r>
              <a:rPr sz="1400" b="0">
                <a:solidFill>
                  <a:srgbClr val="5B6675"/>
                </a:solidFill>
                <a:latin typeface="Inter"/>
              </a:rPr>
              <a:t>On a Florence fee of $496M over the term, Kaiser Permanente saves $861M net — a 1.7× return on every dollar invested with Florence.</a:t>
            </a:r>
          </a:p>
        </p:txBody>
      </p:sp>
      <p:sp>
        <p:nvSpPr>
          <p:cNvPr id="9" name="Rectangle 8"/>
          <p:cNvSpPr/>
          <p:nvPr/>
        </p:nvSpPr>
        <p:spPr>
          <a:xfrm>
            <a:off x="457200" y="3840480"/>
            <a:ext cx="3657600" cy="2194560"/>
          </a:xfrm>
          <a:prstGeom prst="rect">
            <a:avLst/>
          </a:prstGeom>
          <a:solidFill>
            <a:srgbClr val="F4F6F8"/>
          </a:solidFill>
          <a:ln>
            <a:solidFill>
              <a:srgbClr val="E5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023360"/>
            <a:ext cx="3200400" cy="274320"/>
          </a:xfrm>
          <a:prstGeom prst="rect">
            <a:avLst/>
          </a:prstGeom>
          <a:noFill/>
        </p:spPr>
        <p:txBody>
          <a:bodyPr wrap="square" lIns="0" rIns="0" tIns="0" bIns="0">
            <a:spAutoFit/>
          </a:bodyPr>
          <a:lstStyle/>
          <a:p>
            <a:pPr algn="l"/>
            <a:r>
              <a:rPr sz="900" b="1">
                <a:solidFill>
                  <a:srgbClr val="5B6675"/>
                </a:solidFill>
                <a:latin typeface="Inter"/>
              </a:rPr>
              <a:t>PERMANENT RNS</a:t>
            </a:r>
          </a:p>
        </p:txBody>
      </p:sp>
      <p:sp>
        <p:nvSpPr>
          <p:cNvPr id="11" name="TextBox 10"/>
          <p:cNvSpPr txBox="1"/>
          <p:nvPr/>
        </p:nvSpPr>
        <p:spPr>
          <a:xfrm>
            <a:off x="731520" y="4389120"/>
            <a:ext cx="3200400" cy="914400"/>
          </a:xfrm>
          <a:prstGeom prst="rect">
            <a:avLst/>
          </a:prstGeom>
          <a:noFill/>
        </p:spPr>
        <p:txBody>
          <a:bodyPr wrap="square" lIns="0" rIns="0" tIns="0" bIns="0">
            <a:spAutoFit/>
          </a:bodyPr>
          <a:lstStyle/>
          <a:p>
            <a:pPr algn="l"/>
            <a:r>
              <a:rPr sz="3600" b="1">
                <a:solidFill>
                  <a:srgbClr val="0F1B2D"/>
                </a:solidFill>
                <a:latin typeface="Newsreader"/>
              </a:rPr>
              <a:t>11,132</a:t>
            </a:r>
          </a:p>
        </p:txBody>
      </p:sp>
      <p:sp>
        <p:nvSpPr>
          <p:cNvPr id="12" name="TextBox 11"/>
          <p:cNvSpPr txBox="1"/>
          <p:nvPr/>
        </p:nvSpPr>
        <p:spPr>
          <a:xfrm>
            <a:off x="731520" y="5394960"/>
            <a:ext cx="3200400" cy="365760"/>
          </a:xfrm>
          <a:prstGeom prst="rect">
            <a:avLst/>
          </a:prstGeom>
          <a:noFill/>
        </p:spPr>
        <p:txBody>
          <a:bodyPr wrap="square" lIns="0" rIns="0" tIns="0" bIns="0">
            <a:spAutoFit/>
          </a:bodyPr>
          <a:lstStyle/>
          <a:p>
            <a:pPr algn="l"/>
            <a:r>
              <a:rPr sz="1100" b="0">
                <a:solidFill>
                  <a:srgbClr val="5B6675"/>
                </a:solidFill>
                <a:latin typeface="Inter"/>
              </a:rPr>
              <a:t>delivered across the system</a:t>
            </a:r>
          </a:p>
        </p:txBody>
      </p:sp>
      <p:sp>
        <p:nvSpPr>
          <p:cNvPr id="13" name="Rectangle 12"/>
          <p:cNvSpPr/>
          <p:nvPr/>
        </p:nvSpPr>
        <p:spPr>
          <a:xfrm>
            <a:off x="4389120" y="3840480"/>
            <a:ext cx="3657600" cy="2194560"/>
          </a:xfrm>
          <a:prstGeom prst="rect">
            <a:avLst/>
          </a:prstGeom>
          <a:solidFill>
            <a:srgbClr val="F4F6F8"/>
          </a:solidFill>
          <a:ln>
            <a:solidFill>
              <a:srgbClr val="E5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4023360"/>
            <a:ext cx="3200400" cy="274320"/>
          </a:xfrm>
          <a:prstGeom prst="rect">
            <a:avLst/>
          </a:prstGeom>
          <a:noFill/>
        </p:spPr>
        <p:txBody>
          <a:bodyPr wrap="square" lIns="0" rIns="0" tIns="0" bIns="0">
            <a:spAutoFit/>
          </a:bodyPr>
          <a:lstStyle/>
          <a:p>
            <a:pPr algn="l"/>
            <a:r>
              <a:rPr sz="900" b="1">
                <a:solidFill>
                  <a:srgbClr val="5B6675"/>
                </a:solidFill>
                <a:latin typeface="Inter"/>
              </a:rPr>
              <a:t>ANNUAL SAVINGS</a:t>
            </a:r>
          </a:p>
        </p:txBody>
      </p:sp>
      <p:sp>
        <p:nvSpPr>
          <p:cNvPr id="15" name="TextBox 14"/>
          <p:cNvSpPr txBox="1"/>
          <p:nvPr/>
        </p:nvSpPr>
        <p:spPr>
          <a:xfrm>
            <a:off x="4663440" y="4389120"/>
            <a:ext cx="3200400" cy="914400"/>
          </a:xfrm>
          <a:prstGeom prst="rect">
            <a:avLst/>
          </a:prstGeom>
          <a:noFill/>
        </p:spPr>
        <p:txBody>
          <a:bodyPr wrap="square" lIns="0" rIns="0" tIns="0" bIns="0">
            <a:spAutoFit/>
          </a:bodyPr>
          <a:lstStyle/>
          <a:p>
            <a:pPr algn="l"/>
            <a:r>
              <a:rPr sz="3600" b="1">
                <a:solidFill>
                  <a:srgbClr val="0F1B2D"/>
                </a:solidFill>
                <a:latin typeface="Newsreader"/>
              </a:rPr>
              <a:t>$430M</a:t>
            </a:r>
          </a:p>
        </p:txBody>
      </p:sp>
      <p:sp>
        <p:nvSpPr>
          <p:cNvPr id="16" name="TextBox 15"/>
          <p:cNvSpPr txBox="1"/>
          <p:nvPr/>
        </p:nvSpPr>
        <p:spPr>
          <a:xfrm>
            <a:off x="4663440" y="5394960"/>
            <a:ext cx="3200400" cy="365760"/>
          </a:xfrm>
          <a:prstGeom prst="rect">
            <a:avLst/>
          </a:prstGeom>
          <a:noFill/>
        </p:spPr>
        <p:txBody>
          <a:bodyPr wrap="square" lIns="0" rIns="0" tIns="0" bIns="0">
            <a:spAutoFit/>
          </a:bodyPr>
          <a:lstStyle/>
          <a:p>
            <a:pPr algn="l"/>
            <a:r>
              <a:rPr sz="1100" b="0">
                <a:solidFill>
                  <a:srgbClr val="5B6675"/>
                </a:solidFill>
                <a:latin typeface="Inter"/>
              </a:rPr>
              <a:t>to your bottom line</a:t>
            </a:r>
          </a:p>
        </p:txBody>
      </p:sp>
      <p:sp>
        <p:nvSpPr>
          <p:cNvPr id="17" name="Rectangle 16"/>
          <p:cNvSpPr/>
          <p:nvPr/>
        </p:nvSpPr>
        <p:spPr>
          <a:xfrm>
            <a:off x="8321040" y="3840480"/>
            <a:ext cx="3657600" cy="2194560"/>
          </a:xfrm>
          <a:prstGeom prst="rect">
            <a:avLst/>
          </a:prstGeom>
          <a:solidFill>
            <a:srgbClr val="F4F6F8"/>
          </a:solidFill>
          <a:ln>
            <a:solidFill>
              <a:srgbClr val="E5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4023360"/>
            <a:ext cx="3200400" cy="274320"/>
          </a:xfrm>
          <a:prstGeom prst="rect">
            <a:avLst/>
          </a:prstGeom>
          <a:noFill/>
        </p:spPr>
        <p:txBody>
          <a:bodyPr wrap="square" lIns="0" rIns="0" tIns="0" bIns="0">
            <a:spAutoFit/>
          </a:bodyPr>
          <a:lstStyle/>
          <a:p>
            <a:pPr algn="l"/>
            <a:r>
              <a:rPr sz="900" b="1">
                <a:solidFill>
                  <a:srgbClr val="5B6675"/>
                </a:solidFill>
                <a:latin typeface="Inter"/>
              </a:rPr>
              <a:t>RETURN ON INVESTMENT</a:t>
            </a:r>
          </a:p>
        </p:txBody>
      </p:sp>
      <p:sp>
        <p:nvSpPr>
          <p:cNvPr id="19" name="TextBox 18"/>
          <p:cNvSpPr txBox="1"/>
          <p:nvPr/>
        </p:nvSpPr>
        <p:spPr>
          <a:xfrm>
            <a:off x="8595360" y="4389120"/>
            <a:ext cx="3200400" cy="914400"/>
          </a:xfrm>
          <a:prstGeom prst="rect">
            <a:avLst/>
          </a:prstGeom>
          <a:noFill/>
        </p:spPr>
        <p:txBody>
          <a:bodyPr wrap="square" lIns="0" rIns="0" tIns="0" bIns="0">
            <a:spAutoFit/>
          </a:bodyPr>
          <a:lstStyle/>
          <a:p>
            <a:pPr algn="l"/>
            <a:r>
              <a:rPr sz="3600" b="1">
                <a:solidFill>
                  <a:srgbClr val="0F1B2D"/>
                </a:solidFill>
                <a:latin typeface="Newsreader"/>
              </a:rPr>
              <a:t>1.7×</a:t>
            </a:r>
          </a:p>
        </p:txBody>
      </p:sp>
      <p:sp>
        <p:nvSpPr>
          <p:cNvPr id="20" name="TextBox 19"/>
          <p:cNvSpPr txBox="1"/>
          <p:nvPr/>
        </p:nvSpPr>
        <p:spPr>
          <a:xfrm>
            <a:off x="8595360" y="5394960"/>
            <a:ext cx="3200400" cy="365760"/>
          </a:xfrm>
          <a:prstGeom prst="rect">
            <a:avLst/>
          </a:prstGeom>
          <a:noFill/>
        </p:spPr>
        <p:txBody>
          <a:bodyPr wrap="square" lIns="0" rIns="0" tIns="0" bIns="0">
            <a:spAutoFit/>
          </a:bodyPr>
          <a:lstStyle/>
          <a:p>
            <a:pPr algn="l"/>
            <a:r>
              <a:rPr sz="1100" b="0">
                <a:solidFill>
                  <a:srgbClr val="5B6675"/>
                </a:solidFill>
                <a:latin typeface="Inter"/>
              </a:rPr>
              <a:t>savings to Florence fee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274320"/>
            <a:ext cx="320040" cy="320040"/>
          </a:xfrm>
          <a:prstGeom prst="roundRect">
            <a:avLst>
              <a:gd name="adj" fmla="val 20000"/>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20040" cy="365760"/>
          </a:xfrm>
          <a:prstGeom prst="rect">
            <a:avLst/>
          </a:prstGeom>
          <a:noFill/>
        </p:spPr>
        <p:txBody>
          <a:bodyPr wrap="none" lIns="0" rIns="0">
            <a:spAutoFit/>
          </a:bodyPr>
          <a:lstStyle/>
          <a:p>
            <a:pPr algn="ctr"/>
            <a:r>
              <a:rPr sz="1600" b="1">
                <a:solidFill>
                  <a:srgbClr val="FFFFFF"/>
                </a:solidFill>
                <a:latin typeface="Inter"/>
              </a:rPr>
              <a:t>F</a:t>
            </a:r>
          </a:p>
        </p:txBody>
      </p:sp>
      <p:sp>
        <p:nvSpPr>
          <p:cNvPr id="4" name="TextBox 3"/>
          <p:cNvSpPr txBox="1"/>
          <p:nvPr/>
        </p:nvSpPr>
        <p:spPr>
          <a:xfrm>
            <a:off x="868680" y="292608"/>
            <a:ext cx="1828800" cy="365760"/>
          </a:xfrm>
          <a:prstGeom prst="rect">
            <a:avLst/>
          </a:prstGeom>
          <a:noFill/>
        </p:spPr>
        <p:txBody>
          <a:bodyPr wrap="square" lIns="0" rIns="0" tIns="0" bIns="0">
            <a:spAutoFit/>
          </a:bodyPr>
          <a:lstStyle/>
          <a:p>
            <a:pPr algn="l"/>
            <a:r>
              <a:rPr sz="1600" b="1">
                <a:solidFill>
                  <a:srgbClr val="0F1B2D"/>
                </a:solidFill>
                <a:latin typeface="Newsreader"/>
              </a:rPr>
              <a:t>Florence</a:t>
            </a:r>
          </a:p>
        </p:txBody>
      </p:sp>
      <p:sp>
        <p:nvSpPr>
          <p:cNvPr id="5" name="TextBox 4"/>
          <p:cNvSpPr txBox="1"/>
          <p:nvPr/>
        </p:nvSpPr>
        <p:spPr>
          <a:xfrm>
            <a:off x="7772400" y="320040"/>
            <a:ext cx="4114800" cy="274320"/>
          </a:xfrm>
          <a:prstGeom prst="rect">
            <a:avLst/>
          </a:prstGeom>
          <a:noFill/>
        </p:spPr>
        <p:txBody>
          <a:bodyPr wrap="square" lIns="0" rIns="0" tIns="0" bIns="0">
            <a:spAutoFit/>
          </a:bodyPr>
          <a:lstStyle/>
          <a:p>
            <a:pPr algn="r"/>
            <a:r>
              <a:rPr sz="900" b="1">
                <a:solidFill>
                  <a:srgbClr val="5B6675"/>
                </a:solidFill>
                <a:latin typeface="Inter"/>
              </a:rPr>
              <a:t>05  ·  IMPLEMENTATION</a:t>
            </a:r>
          </a:p>
        </p:txBody>
      </p:sp>
      <p:sp>
        <p:nvSpPr>
          <p:cNvPr id="6" name="TextBox 5"/>
          <p:cNvSpPr txBox="1"/>
          <p:nvPr/>
        </p:nvSpPr>
        <p:spPr>
          <a:xfrm>
            <a:off x="457200" y="914400"/>
            <a:ext cx="7315200" cy="274320"/>
          </a:xfrm>
          <a:prstGeom prst="rect">
            <a:avLst/>
          </a:prstGeom>
          <a:noFill/>
        </p:spPr>
        <p:txBody>
          <a:bodyPr wrap="square" lIns="0" rIns="0" tIns="0" bIns="0">
            <a:spAutoFit/>
          </a:bodyPr>
          <a:lstStyle/>
          <a:p>
            <a:pPr algn="l"/>
            <a:r>
              <a:rPr sz="1000" b="1">
                <a:solidFill>
                  <a:srgbClr val="089478"/>
                </a:solidFill>
                <a:latin typeface="Inter"/>
              </a:rPr>
              <a:t>05 · IMPLEMENTATION</a:t>
            </a:r>
          </a:p>
        </p:txBody>
      </p:sp>
      <p:sp>
        <p:nvSpPr>
          <p:cNvPr id="7" name="TextBox 6"/>
          <p:cNvSpPr txBox="1"/>
          <p:nvPr/>
        </p:nvSpPr>
        <p:spPr>
          <a:xfrm>
            <a:off x="457200" y="1280160"/>
            <a:ext cx="9144000" cy="1463040"/>
          </a:xfrm>
          <a:prstGeom prst="rect">
            <a:avLst/>
          </a:prstGeom>
          <a:noFill/>
        </p:spPr>
        <p:txBody>
          <a:bodyPr wrap="square" lIns="0" rIns="0" tIns="0" bIns="0">
            <a:spAutoFit/>
          </a:bodyPr>
          <a:lstStyle/>
          <a:p>
            <a:pPr algn="l"/>
            <a:r>
              <a:rPr sz="4400" b="1">
                <a:solidFill>
                  <a:srgbClr val="0F1B2D"/>
                </a:solidFill>
                <a:latin typeface="Newsreader"/>
              </a:rPr>
              <a:t>From signature to first start: 9–12 months.</a:t>
            </a:r>
          </a:p>
        </p:txBody>
      </p:sp>
      <p:sp>
        <p:nvSpPr>
          <p:cNvPr id="8" name="TextBox 7"/>
          <p:cNvSpPr txBox="1"/>
          <p:nvPr/>
        </p:nvSpPr>
        <p:spPr>
          <a:xfrm>
            <a:off x="457200" y="2468880"/>
            <a:ext cx="10972800" cy="1828800"/>
          </a:xfrm>
          <a:prstGeom prst="rect">
            <a:avLst/>
          </a:prstGeom>
          <a:noFill/>
        </p:spPr>
        <p:txBody>
          <a:bodyPr wrap="square" lIns="0" rIns="0" tIns="0" bIns="0">
            <a:spAutoFit/>
          </a:bodyPr>
          <a:lstStyle/>
          <a:p>
            <a:pPr algn="l"/>
            <a:r>
              <a:rPr sz="1300" b="0">
                <a:solidFill>
                  <a:srgbClr val="5B6675"/>
                </a:solidFill>
                <a:latin typeface="Inter"/>
              </a:rPr>
              <a:t>Florence's pipeline runs international RN production end-to-end — exam prep, visa support, higher education, and bedside practice. Onboarding into Kaiser Permanente's standard hiring flow.</a:t>
            </a:r>
          </a:p>
        </p:txBody>
      </p:sp>
      <p:sp>
        <p:nvSpPr>
          <p:cNvPr id="9" name="Rectangle 8"/>
          <p:cNvSpPr/>
          <p:nvPr/>
        </p:nvSpPr>
        <p:spPr>
          <a:xfrm>
            <a:off x="457200" y="3657600"/>
            <a:ext cx="2743200" cy="2377440"/>
          </a:xfrm>
          <a:prstGeom prst="rect">
            <a:avLst/>
          </a:prstGeom>
          <a:solidFill>
            <a:srgbClr val="F4F6F8"/>
          </a:solidFill>
          <a:ln>
            <a:solidFill>
              <a:srgbClr val="E5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840480"/>
            <a:ext cx="2286000" cy="274320"/>
          </a:xfrm>
          <a:prstGeom prst="rect">
            <a:avLst/>
          </a:prstGeom>
          <a:noFill/>
        </p:spPr>
        <p:txBody>
          <a:bodyPr wrap="square" lIns="0" rIns="0" tIns="0" bIns="0">
            <a:spAutoFit/>
          </a:bodyPr>
          <a:lstStyle/>
          <a:p>
            <a:pPr algn="l"/>
            <a:r>
              <a:rPr sz="900" b="1">
                <a:solidFill>
                  <a:srgbClr val="089478"/>
                </a:solidFill>
                <a:latin typeface="Inter"/>
              </a:rPr>
              <a:t>MONTHS 0–3</a:t>
            </a:r>
          </a:p>
        </p:txBody>
      </p:sp>
      <p:sp>
        <p:nvSpPr>
          <p:cNvPr id="11" name="TextBox 10"/>
          <p:cNvSpPr txBox="1"/>
          <p:nvPr/>
        </p:nvSpPr>
        <p:spPr>
          <a:xfrm>
            <a:off x="685800" y="4206240"/>
            <a:ext cx="2286000" cy="457200"/>
          </a:xfrm>
          <a:prstGeom prst="rect">
            <a:avLst/>
          </a:prstGeom>
          <a:noFill/>
        </p:spPr>
        <p:txBody>
          <a:bodyPr wrap="square" lIns="0" rIns="0" tIns="0" bIns="0">
            <a:spAutoFit/>
          </a:bodyPr>
          <a:lstStyle/>
          <a:p>
            <a:pPr algn="l"/>
            <a:r>
              <a:rPr sz="1600" b="1">
                <a:solidFill>
                  <a:srgbClr val="0F1B2D"/>
                </a:solidFill>
                <a:latin typeface="Newsreader"/>
              </a:rPr>
              <a:t>Cohort selection</a:t>
            </a:r>
          </a:p>
        </p:txBody>
      </p:sp>
      <p:sp>
        <p:nvSpPr>
          <p:cNvPr id="12" name="TextBox 11"/>
          <p:cNvSpPr txBox="1"/>
          <p:nvPr/>
        </p:nvSpPr>
        <p:spPr>
          <a:xfrm>
            <a:off x="685800" y="4937760"/>
            <a:ext cx="2286000" cy="1005840"/>
          </a:xfrm>
          <a:prstGeom prst="rect">
            <a:avLst/>
          </a:prstGeom>
          <a:noFill/>
        </p:spPr>
        <p:txBody>
          <a:bodyPr wrap="square" lIns="0" rIns="0" tIns="0" bIns="0">
            <a:spAutoFit/>
          </a:bodyPr>
          <a:lstStyle/>
          <a:p>
            <a:pPr algn="l"/>
            <a:r>
              <a:rPr sz="1000" b="0">
                <a:solidFill>
                  <a:srgbClr val="5B6675"/>
                </a:solidFill>
                <a:latin typeface="Inter"/>
              </a:rPr>
              <a:t>Florence pipeline + system needs assessment</a:t>
            </a:r>
          </a:p>
        </p:txBody>
      </p:sp>
      <p:sp>
        <p:nvSpPr>
          <p:cNvPr id="13" name="Rectangle 12"/>
          <p:cNvSpPr/>
          <p:nvPr/>
        </p:nvSpPr>
        <p:spPr>
          <a:xfrm>
            <a:off x="3383280" y="3657600"/>
            <a:ext cx="2743200" cy="2377440"/>
          </a:xfrm>
          <a:prstGeom prst="rect">
            <a:avLst/>
          </a:prstGeom>
          <a:solidFill>
            <a:srgbClr val="F4F6F8"/>
          </a:solidFill>
          <a:ln>
            <a:solidFill>
              <a:srgbClr val="E5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3840480"/>
            <a:ext cx="2286000" cy="274320"/>
          </a:xfrm>
          <a:prstGeom prst="rect">
            <a:avLst/>
          </a:prstGeom>
          <a:noFill/>
        </p:spPr>
        <p:txBody>
          <a:bodyPr wrap="square" lIns="0" rIns="0" tIns="0" bIns="0">
            <a:spAutoFit/>
          </a:bodyPr>
          <a:lstStyle/>
          <a:p>
            <a:pPr algn="l"/>
            <a:r>
              <a:rPr sz="900" b="1">
                <a:solidFill>
                  <a:srgbClr val="089478"/>
                </a:solidFill>
                <a:latin typeface="Inter"/>
              </a:rPr>
              <a:t>MONTHS 3–6</a:t>
            </a:r>
          </a:p>
        </p:txBody>
      </p:sp>
      <p:sp>
        <p:nvSpPr>
          <p:cNvPr id="15" name="TextBox 14"/>
          <p:cNvSpPr txBox="1"/>
          <p:nvPr/>
        </p:nvSpPr>
        <p:spPr>
          <a:xfrm>
            <a:off x="3611880" y="4206240"/>
            <a:ext cx="2286000" cy="457200"/>
          </a:xfrm>
          <a:prstGeom prst="rect">
            <a:avLst/>
          </a:prstGeom>
          <a:noFill/>
        </p:spPr>
        <p:txBody>
          <a:bodyPr wrap="square" lIns="0" rIns="0" tIns="0" bIns="0">
            <a:spAutoFit/>
          </a:bodyPr>
          <a:lstStyle/>
          <a:p>
            <a:pPr algn="l"/>
            <a:r>
              <a:rPr sz="1600" b="1">
                <a:solidFill>
                  <a:srgbClr val="0F1B2D"/>
                </a:solidFill>
                <a:latin typeface="Newsreader"/>
              </a:rPr>
              <a:t>Visa &amp; licensing</a:t>
            </a:r>
          </a:p>
        </p:txBody>
      </p:sp>
      <p:sp>
        <p:nvSpPr>
          <p:cNvPr id="16" name="TextBox 15"/>
          <p:cNvSpPr txBox="1"/>
          <p:nvPr/>
        </p:nvSpPr>
        <p:spPr>
          <a:xfrm>
            <a:off x="3611880" y="4937760"/>
            <a:ext cx="2286000" cy="1005840"/>
          </a:xfrm>
          <a:prstGeom prst="rect">
            <a:avLst/>
          </a:prstGeom>
          <a:noFill/>
        </p:spPr>
        <p:txBody>
          <a:bodyPr wrap="square" lIns="0" rIns="0" tIns="0" bIns="0">
            <a:spAutoFit/>
          </a:bodyPr>
          <a:lstStyle/>
          <a:p>
            <a:pPr algn="l"/>
            <a:r>
              <a:rPr sz="1000" b="0">
                <a:solidFill>
                  <a:srgbClr val="5B6675"/>
                </a:solidFill>
                <a:latin typeface="Inter"/>
              </a:rPr>
              <a:t>F-1 transition, NCLEX, state licensure</a:t>
            </a:r>
          </a:p>
        </p:txBody>
      </p:sp>
      <p:sp>
        <p:nvSpPr>
          <p:cNvPr id="17" name="Rectangle 16"/>
          <p:cNvSpPr/>
          <p:nvPr/>
        </p:nvSpPr>
        <p:spPr>
          <a:xfrm>
            <a:off x="6309360" y="3657600"/>
            <a:ext cx="2743200" cy="2377440"/>
          </a:xfrm>
          <a:prstGeom prst="rect">
            <a:avLst/>
          </a:prstGeom>
          <a:solidFill>
            <a:srgbClr val="F4F6F8"/>
          </a:solidFill>
          <a:ln>
            <a:solidFill>
              <a:srgbClr val="E5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3840480"/>
            <a:ext cx="2286000" cy="274320"/>
          </a:xfrm>
          <a:prstGeom prst="rect">
            <a:avLst/>
          </a:prstGeom>
          <a:noFill/>
        </p:spPr>
        <p:txBody>
          <a:bodyPr wrap="square" lIns="0" rIns="0" tIns="0" bIns="0">
            <a:spAutoFit/>
          </a:bodyPr>
          <a:lstStyle/>
          <a:p>
            <a:pPr algn="l"/>
            <a:r>
              <a:rPr sz="900" b="1">
                <a:solidFill>
                  <a:srgbClr val="089478"/>
                </a:solidFill>
                <a:latin typeface="Inter"/>
              </a:rPr>
              <a:t>MONTHS 6–9</a:t>
            </a:r>
          </a:p>
        </p:txBody>
      </p:sp>
      <p:sp>
        <p:nvSpPr>
          <p:cNvPr id="19" name="TextBox 18"/>
          <p:cNvSpPr txBox="1"/>
          <p:nvPr/>
        </p:nvSpPr>
        <p:spPr>
          <a:xfrm>
            <a:off x="6537960" y="4206240"/>
            <a:ext cx="2286000" cy="457200"/>
          </a:xfrm>
          <a:prstGeom prst="rect">
            <a:avLst/>
          </a:prstGeom>
          <a:noFill/>
        </p:spPr>
        <p:txBody>
          <a:bodyPr wrap="square" lIns="0" rIns="0" tIns="0" bIns="0">
            <a:spAutoFit/>
          </a:bodyPr>
          <a:lstStyle/>
          <a:p>
            <a:pPr algn="l"/>
            <a:r>
              <a:rPr sz="1600" b="1">
                <a:solidFill>
                  <a:srgbClr val="0F1B2D"/>
                </a:solidFill>
                <a:latin typeface="Newsreader"/>
              </a:rPr>
              <a:t>Onboarding</a:t>
            </a:r>
          </a:p>
        </p:txBody>
      </p:sp>
      <p:sp>
        <p:nvSpPr>
          <p:cNvPr id="20" name="TextBox 19"/>
          <p:cNvSpPr txBox="1"/>
          <p:nvPr/>
        </p:nvSpPr>
        <p:spPr>
          <a:xfrm>
            <a:off x="6537960" y="4937760"/>
            <a:ext cx="2286000" cy="1005840"/>
          </a:xfrm>
          <a:prstGeom prst="rect">
            <a:avLst/>
          </a:prstGeom>
          <a:noFill/>
        </p:spPr>
        <p:txBody>
          <a:bodyPr wrap="square" lIns="0" rIns="0" tIns="0" bIns="0">
            <a:spAutoFit/>
          </a:bodyPr>
          <a:lstStyle/>
          <a:p>
            <a:pPr algn="l"/>
            <a:r>
              <a:rPr sz="1000" b="0">
                <a:solidFill>
                  <a:srgbClr val="5B6675"/>
                </a:solidFill>
                <a:latin typeface="Inter"/>
              </a:rPr>
              <a:t>Standard system hiring, comp &amp; benefits</a:t>
            </a:r>
          </a:p>
        </p:txBody>
      </p:sp>
      <p:sp>
        <p:nvSpPr>
          <p:cNvPr id="21" name="Rectangle 20"/>
          <p:cNvSpPr/>
          <p:nvPr/>
        </p:nvSpPr>
        <p:spPr>
          <a:xfrm>
            <a:off x="9235440" y="3657600"/>
            <a:ext cx="2743200" cy="2377440"/>
          </a:xfrm>
          <a:prstGeom prst="rect">
            <a:avLst/>
          </a:prstGeom>
          <a:solidFill>
            <a:srgbClr val="F4F6F8"/>
          </a:solidFill>
          <a:ln>
            <a:solidFill>
              <a:srgbClr val="E5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64040" y="3840480"/>
            <a:ext cx="2286000" cy="274320"/>
          </a:xfrm>
          <a:prstGeom prst="rect">
            <a:avLst/>
          </a:prstGeom>
          <a:noFill/>
        </p:spPr>
        <p:txBody>
          <a:bodyPr wrap="square" lIns="0" rIns="0" tIns="0" bIns="0">
            <a:spAutoFit/>
          </a:bodyPr>
          <a:lstStyle/>
          <a:p>
            <a:pPr algn="l"/>
            <a:r>
              <a:rPr sz="900" b="1">
                <a:solidFill>
                  <a:srgbClr val="089478"/>
                </a:solidFill>
                <a:latin typeface="Inter"/>
              </a:rPr>
              <a:t>MONTH 9+</a:t>
            </a:r>
          </a:p>
        </p:txBody>
      </p:sp>
      <p:sp>
        <p:nvSpPr>
          <p:cNvPr id="23" name="TextBox 22"/>
          <p:cNvSpPr txBox="1"/>
          <p:nvPr/>
        </p:nvSpPr>
        <p:spPr>
          <a:xfrm>
            <a:off x="9464040" y="4206240"/>
            <a:ext cx="2286000" cy="457200"/>
          </a:xfrm>
          <a:prstGeom prst="rect">
            <a:avLst/>
          </a:prstGeom>
          <a:noFill/>
        </p:spPr>
        <p:txBody>
          <a:bodyPr wrap="square" lIns="0" rIns="0" tIns="0" bIns="0">
            <a:spAutoFit/>
          </a:bodyPr>
          <a:lstStyle/>
          <a:p>
            <a:pPr algn="l"/>
            <a:r>
              <a:rPr sz="1600" b="1">
                <a:solidFill>
                  <a:srgbClr val="0F1B2D"/>
                </a:solidFill>
                <a:latin typeface="Newsreader"/>
              </a:rPr>
              <a:t>First starts</a:t>
            </a:r>
          </a:p>
        </p:txBody>
      </p:sp>
      <p:sp>
        <p:nvSpPr>
          <p:cNvPr id="24" name="TextBox 23"/>
          <p:cNvSpPr txBox="1"/>
          <p:nvPr/>
        </p:nvSpPr>
        <p:spPr>
          <a:xfrm>
            <a:off x="9464040" y="4937760"/>
            <a:ext cx="2286000" cy="1005840"/>
          </a:xfrm>
          <a:prstGeom prst="rect">
            <a:avLst/>
          </a:prstGeom>
          <a:noFill/>
        </p:spPr>
        <p:txBody>
          <a:bodyPr wrap="square" lIns="0" rIns="0" tIns="0" bIns="0">
            <a:spAutoFit/>
          </a:bodyPr>
          <a:lstStyle/>
          <a:p>
            <a:pPr algn="l"/>
            <a:r>
              <a:rPr sz="1000" b="0">
                <a:solidFill>
                  <a:srgbClr val="5B6675"/>
                </a:solidFill>
                <a:latin typeface="Inter"/>
              </a:rPr>
              <a:t>Permanent RN production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274320"/>
            <a:ext cx="320040" cy="320040"/>
          </a:xfrm>
          <a:prstGeom prst="roundRect">
            <a:avLst>
              <a:gd name="adj" fmla="val 20000"/>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20040" cy="365760"/>
          </a:xfrm>
          <a:prstGeom prst="rect">
            <a:avLst/>
          </a:prstGeom>
          <a:noFill/>
        </p:spPr>
        <p:txBody>
          <a:bodyPr wrap="none" lIns="0" rIns="0">
            <a:spAutoFit/>
          </a:bodyPr>
          <a:lstStyle/>
          <a:p>
            <a:pPr algn="ctr"/>
            <a:r>
              <a:rPr sz="1600" b="1">
                <a:solidFill>
                  <a:srgbClr val="FFFFFF"/>
                </a:solidFill>
                <a:latin typeface="Inter"/>
              </a:rPr>
              <a:t>F</a:t>
            </a:r>
          </a:p>
        </p:txBody>
      </p:sp>
      <p:sp>
        <p:nvSpPr>
          <p:cNvPr id="4" name="TextBox 3"/>
          <p:cNvSpPr txBox="1"/>
          <p:nvPr/>
        </p:nvSpPr>
        <p:spPr>
          <a:xfrm>
            <a:off x="868680" y="292608"/>
            <a:ext cx="1828800" cy="365760"/>
          </a:xfrm>
          <a:prstGeom prst="rect">
            <a:avLst/>
          </a:prstGeom>
          <a:noFill/>
        </p:spPr>
        <p:txBody>
          <a:bodyPr wrap="square" lIns="0" rIns="0" tIns="0" bIns="0">
            <a:spAutoFit/>
          </a:bodyPr>
          <a:lstStyle/>
          <a:p>
            <a:pPr algn="l"/>
            <a:r>
              <a:rPr sz="1600" b="1">
                <a:solidFill>
                  <a:srgbClr val="0F1B2D"/>
                </a:solidFill>
                <a:latin typeface="Newsreader"/>
              </a:rPr>
              <a:t>Florence</a:t>
            </a:r>
          </a:p>
        </p:txBody>
      </p:sp>
      <p:sp>
        <p:nvSpPr>
          <p:cNvPr id="5" name="TextBox 4"/>
          <p:cNvSpPr txBox="1"/>
          <p:nvPr/>
        </p:nvSpPr>
        <p:spPr>
          <a:xfrm>
            <a:off x="7772400" y="320040"/>
            <a:ext cx="4114800" cy="274320"/>
          </a:xfrm>
          <a:prstGeom prst="rect">
            <a:avLst/>
          </a:prstGeom>
          <a:noFill/>
        </p:spPr>
        <p:txBody>
          <a:bodyPr wrap="square" lIns="0" rIns="0" tIns="0" bIns="0">
            <a:spAutoFit/>
          </a:bodyPr>
          <a:lstStyle/>
          <a:p>
            <a:pPr algn="r"/>
            <a:r>
              <a:rPr sz="900" b="1">
                <a:solidFill>
                  <a:srgbClr val="5B6675"/>
                </a:solidFill>
                <a:latin typeface="Inter"/>
              </a:rPr>
              <a:t>06  ·  WHAT THIS MEANS FOR KAISER PERMANENTE</a:t>
            </a:r>
          </a:p>
        </p:txBody>
      </p:sp>
      <p:sp>
        <p:nvSpPr>
          <p:cNvPr id="6" name="TextBox 5"/>
          <p:cNvSpPr txBox="1"/>
          <p:nvPr/>
        </p:nvSpPr>
        <p:spPr>
          <a:xfrm>
            <a:off x="457200" y="914400"/>
            <a:ext cx="7315200" cy="274320"/>
          </a:xfrm>
          <a:prstGeom prst="rect">
            <a:avLst/>
          </a:prstGeom>
          <a:noFill/>
        </p:spPr>
        <p:txBody>
          <a:bodyPr wrap="square" lIns="0" rIns="0" tIns="0" bIns="0">
            <a:spAutoFit/>
          </a:bodyPr>
          <a:lstStyle/>
          <a:p>
            <a:pPr algn="l"/>
            <a:r>
              <a:rPr sz="1000" b="1">
                <a:solidFill>
                  <a:srgbClr val="089478"/>
                </a:solidFill>
                <a:latin typeface="Inter"/>
              </a:rPr>
              <a:t>06 · WHAT THIS MEANS FOR KAISER PERMANENTE</a:t>
            </a:r>
          </a:p>
        </p:txBody>
      </p:sp>
      <p:sp>
        <p:nvSpPr>
          <p:cNvPr id="7" name="TextBox 6"/>
          <p:cNvSpPr txBox="1"/>
          <p:nvPr/>
        </p:nvSpPr>
        <p:spPr>
          <a:xfrm>
            <a:off x="457200" y="1280160"/>
            <a:ext cx="9144000" cy="1463040"/>
          </a:xfrm>
          <a:prstGeom prst="rect">
            <a:avLst/>
          </a:prstGeom>
          <a:noFill/>
        </p:spPr>
        <p:txBody>
          <a:bodyPr wrap="square" lIns="0" rIns="0" tIns="0" bIns="0">
            <a:spAutoFit/>
          </a:bodyPr>
          <a:lstStyle/>
          <a:p>
            <a:pPr algn="l"/>
            <a:r>
              <a:rPr sz="4400" b="1">
                <a:solidFill>
                  <a:srgbClr val="0F1B2D"/>
                </a:solidFill>
                <a:latin typeface="Newsreader"/>
              </a:rPr>
              <a:t>Permanent RN capacity.
FICA-aligned economics.
No agency dependency.</a:t>
            </a:r>
          </a:p>
        </p:txBody>
      </p:sp>
      <p:sp>
        <p:nvSpPr>
          <p:cNvPr id="8" name="Rectangle 7"/>
          <p:cNvSpPr/>
          <p:nvPr/>
        </p:nvSpPr>
        <p:spPr>
          <a:xfrm>
            <a:off x="457200" y="4114800"/>
            <a:ext cx="11247120" cy="2286000"/>
          </a:xfrm>
          <a:prstGeom prst="rect">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297680"/>
            <a:ext cx="10515600" cy="365760"/>
          </a:xfrm>
          <a:prstGeom prst="rect">
            <a:avLst/>
          </a:prstGeom>
          <a:noFill/>
        </p:spPr>
        <p:txBody>
          <a:bodyPr wrap="square" lIns="0" rIns="0" tIns="0" bIns="0">
            <a:spAutoFit/>
          </a:bodyPr>
          <a:lstStyle/>
          <a:p>
            <a:pPr algn="l"/>
            <a:r>
              <a:rPr sz="1000" b="1">
                <a:solidFill>
                  <a:srgbClr val="FFFFFF"/>
                </a:solidFill>
                <a:latin typeface="Inter"/>
              </a:rPr>
              <a:t>THE WAY FORWARD</a:t>
            </a:r>
          </a:p>
        </p:txBody>
      </p:sp>
      <p:sp>
        <p:nvSpPr>
          <p:cNvPr id="10" name="TextBox 9"/>
          <p:cNvSpPr txBox="1"/>
          <p:nvPr/>
        </p:nvSpPr>
        <p:spPr>
          <a:xfrm>
            <a:off x="822960" y="4663440"/>
            <a:ext cx="10515600" cy="1280160"/>
          </a:xfrm>
          <a:prstGeom prst="rect">
            <a:avLst/>
          </a:prstGeom>
          <a:noFill/>
        </p:spPr>
        <p:txBody>
          <a:bodyPr wrap="square" lIns="0" rIns="0" tIns="0" bIns="0">
            <a:spAutoFit/>
          </a:bodyPr>
          <a:lstStyle/>
          <a:p>
            <a:pPr algn="l"/>
            <a:r>
              <a:rPr sz="2000" b="0">
                <a:solidFill>
                  <a:srgbClr val="FFFFFF"/>
                </a:solidFill>
                <a:latin typeface="Newsreader"/>
              </a:rPr>
              <a:t>Florence delivers 11,132 permanent RNs to Kaiser Permanente across 37 facilities. Same hours. Different price. Different outcome — $861M in net savings on a $496M investment.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274320"/>
            <a:ext cx="320040" cy="320040"/>
          </a:xfrm>
          <a:prstGeom prst="roundRect">
            <a:avLst>
              <a:gd name="adj" fmla="val 20000"/>
            </a:avLst>
          </a:prstGeom>
          <a:solidFill>
            <a:srgbClr val="0BC5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320040" cy="365760"/>
          </a:xfrm>
          <a:prstGeom prst="rect">
            <a:avLst/>
          </a:prstGeom>
          <a:noFill/>
        </p:spPr>
        <p:txBody>
          <a:bodyPr wrap="none" lIns="0" rIns="0">
            <a:spAutoFit/>
          </a:bodyPr>
          <a:lstStyle/>
          <a:p>
            <a:pPr algn="ctr"/>
            <a:r>
              <a:rPr sz="1600" b="1">
                <a:solidFill>
                  <a:srgbClr val="FFFFFF"/>
                </a:solidFill>
                <a:latin typeface="Inter"/>
              </a:rPr>
              <a:t>F</a:t>
            </a:r>
          </a:p>
        </p:txBody>
      </p:sp>
      <p:sp>
        <p:nvSpPr>
          <p:cNvPr id="4" name="TextBox 3"/>
          <p:cNvSpPr txBox="1"/>
          <p:nvPr/>
        </p:nvSpPr>
        <p:spPr>
          <a:xfrm>
            <a:off x="868680" y="292608"/>
            <a:ext cx="1828800" cy="365760"/>
          </a:xfrm>
          <a:prstGeom prst="rect">
            <a:avLst/>
          </a:prstGeom>
          <a:noFill/>
        </p:spPr>
        <p:txBody>
          <a:bodyPr wrap="square" lIns="0" rIns="0" tIns="0" bIns="0">
            <a:spAutoFit/>
          </a:bodyPr>
          <a:lstStyle/>
          <a:p>
            <a:pPr algn="l"/>
            <a:r>
              <a:rPr sz="1600" b="1">
                <a:solidFill>
                  <a:srgbClr val="0F1B2D"/>
                </a:solidFill>
                <a:latin typeface="Newsreader"/>
              </a:rPr>
              <a:t>Florence</a:t>
            </a:r>
          </a:p>
        </p:txBody>
      </p:sp>
      <p:sp>
        <p:nvSpPr>
          <p:cNvPr id="5" name="TextBox 4"/>
          <p:cNvSpPr txBox="1"/>
          <p:nvPr/>
        </p:nvSpPr>
        <p:spPr>
          <a:xfrm>
            <a:off x="7772400" y="320040"/>
            <a:ext cx="4114800" cy="274320"/>
          </a:xfrm>
          <a:prstGeom prst="rect">
            <a:avLst/>
          </a:prstGeom>
          <a:noFill/>
        </p:spPr>
        <p:txBody>
          <a:bodyPr wrap="square" lIns="0" rIns="0" tIns="0" bIns="0">
            <a:spAutoFit/>
          </a:bodyPr>
          <a:lstStyle/>
          <a:p>
            <a:pPr algn="r"/>
            <a:r>
              <a:rPr sz="900" b="1">
                <a:solidFill>
                  <a:srgbClr val="5B6675"/>
                </a:solidFill>
                <a:latin typeface="Inter"/>
              </a:rPr>
              <a:t>07  ·  METHODOLOGY &amp; DISCLOSURES</a:t>
            </a:r>
          </a:p>
        </p:txBody>
      </p:sp>
      <p:sp>
        <p:nvSpPr>
          <p:cNvPr id="6" name="TextBox 5"/>
          <p:cNvSpPr txBox="1"/>
          <p:nvPr/>
        </p:nvSpPr>
        <p:spPr>
          <a:xfrm>
            <a:off x="457200" y="914400"/>
            <a:ext cx="7315200" cy="274320"/>
          </a:xfrm>
          <a:prstGeom prst="rect">
            <a:avLst/>
          </a:prstGeom>
          <a:noFill/>
        </p:spPr>
        <p:txBody>
          <a:bodyPr wrap="square" lIns="0" rIns="0" tIns="0" bIns="0">
            <a:spAutoFit/>
          </a:bodyPr>
          <a:lstStyle/>
          <a:p>
            <a:pPr algn="l"/>
            <a:r>
              <a:rPr sz="1000" b="1">
                <a:solidFill>
                  <a:srgbClr val="089478"/>
                </a:solidFill>
                <a:latin typeface="Inter"/>
              </a:rPr>
              <a:t>07 · METHODOLOGY &amp; DISCLOSURES</a:t>
            </a:r>
          </a:p>
        </p:txBody>
      </p:sp>
      <p:sp>
        <p:nvSpPr>
          <p:cNvPr id="7" name="TextBox 6"/>
          <p:cNvSpPr txBox="1"/>
          <p:nvPr/>
        </p:nvSpPr>
        <p:spPr>
          <a:xfrm>
            <a:off x="457200" y="1280160"/>
            <a:ext cx="9144000" cy="1463040"/>
          </a:xfrm>
          <a:prstGeom prst="rect">
            <a:avLst/>
          </a:prstGeom>
          <a:noFill/>
        </p:spPr>
        <p:txBody>
          <a:bodyPr wrap="square" lIns="0" rIns="0" tIns="0" bIns="0">
            <a:spAutoFit/>
          </a:bodyPr>
          <a:lstStyle/>
          <a:p>
            <a:pPr algn="l"/>
            <a:r>
              <a:rPr sz="4400" b="1">
                <a:solidFill>
                  <a:srgbClr val="0F1B2D"/>
                </a:solidFill>
                <a:latin typeface="Newsreader"/>
              </a:rPr>
              <a:t>Sources &amp; assumptions.</a:t>
            </a:r>
          </a:p>
        </p:txBody>
      </p:sp>
      <p:sp>
        <p:nvSpPr>
          <p:cNvPr id="8" name="TextBox 7"/>
          <p:cNvSpPr txBox="1"/>
          <p:nvPr/>
        </p:nvSpPr>
        <p:spPr>
          <a:xfrm>
            <a:off x="457200" y="2651760"/>
            <a:ext cx="10972800" cy="3657600"/>
          </a:xfrm>
          <a:prstGeom prst="rect">
            <a:avLst/>
          </a:prstGeom>
          <a:noFill/>
        </p:spPr>
        <p:txBody>
          <a:bodyPr wrap="square" lIns="0" rIns="0" tIns="0" bIns="0">
            <a:spAutoFit/>
          </a:bodyPr>
          <a:lstStyle/>
          <a:p>
            <a:pPr algn="l"/>
            <a:r>
              <a:rPr sz="1100" b="0">
                <a:solidFill>
                  <a:srgbClr val="0F1B2D"/>
                </a:solidFill>
                <a:latin typeface="Inter"/>
              </a:rPr>
              <a:t>Universe   ·   CMS Hospital General Information + NASHP Hospital Cost Tool (2020–2024).
Wage data   ·   BLS OEWS May 2024 MSA-level RN wages (SOC 29-1141) with HCRIS per-hospital and state-level fallback.
Agency rates   ·   CMS HCRIS NMRC Worksheet S-3 Part II line 01100 (Direct Patient Care contract labor hourly).
Pricing   ·   Florence Workforce Restoration Economics v2 — FICA-offset target at 50%. Florence fee sized as FICA savings ÷ target offset percentage, clamped to $750–$2,000 / RN / month.
Channel &amp; partner margin   ·   Florence's core rate is protected regardless of channel. When sold through AMN Healthcare or other distribution partners, the partner's margin is added on top of Florence's core rate (not deducted from it). Florence collects the full core rate; the partner collects its added margin. The customer's total price = Florence core rate + partner margin.
Cohort   ·   F-1 student exemption applies during the nonresident-alien period (IRC §3121(b)(19), IRS Pub 519). Eligibility must be confirmed by payroll, tax counsel, and immigration counsel.
FICA-offset reporting   ·   Estimated employer-side FICA offset is calculated on the taxable wage portion of RN compensation only (not the benefits-loaded HCRIS total comp rate). Eligibility must be validated by payroll, tax counsel, and immigration counsel. Employee-side FICA benefit is shown separately as a nurse take-home benefit and is not included in employer ROI unless presented as combined economic value.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